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0801350" cy="607695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Presentation based on the current LoRaTrack project progress and the supplied Somaiya PRAGYAN 2.0 format.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Hashim et al., “Location tracking using LoRa,” IJECE, 2021, DOI 10.11591/ijece.v11i4.pp3123-3128. https://doi.org/10.11591/ijece.v11i4.pp3123-3128</a:t>
            </a:r>
          </a:p>
          <a:p>
            <a:r>
              <a:t>Muladi et al., “LoRa Mesh-Based IoT GPS Tracking System for Mountain Climbers,” IJSSE, 2024. https://doi.org/10.18280/ijsse.140610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diagram reflects the current app-based design: smartphone GPS and Android app connected to ESP32 over BLE, with two SX1278 LoRa radios between nodes.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and 2 were checked against the cited publication records. The remaining URLs were retained from the supplied project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935F397F-A565-4267-A665-C220E52DCB31}"/>
              </a:ext>
            </a:extLst>
          </p:cNvPr>
          <p:cNvSpPr>
            <a:spLocks noGrp="1"/>
          </p:cNvSpPr>
          <p:nvPr/>
        </p:nvSpPr>
        <p:spPr>
          <a:xfrm>
            <a:off x="5130641" y="1958128"/>
            <a:ext cx="540068" cy="33761"/>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09D3BABE-68FD-4EBD-8285-DC785A1BB657}"/>
              </a:ext>
            </a:extLst>
          </p:cNvPr>
          <p:cNvSpPr>
            <a:spLocks noGrp="1"/>
          </p:cNvSpPr>
          <p:nvPr>
            <p:ph type="title"/>
          </p:nvPr>
        </p:nvSpPr>
        <p:spPr>
          <a:xfrm>
            <a:off x="1080135" y="2295737"/>
            <a:ext cx="8641080" cy="877782"/>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5928A6B2-7913-4C23-B87E-4FB023AC314A}"/>
              </a:ext>
            </a:extLst>
          </p:cNvPr>
          <p:cNvSpPr>
            <a:spLocks noGrp="1"/>
          </p:cNvSpPr>
          <p:nvPr>
            <p:ph type="subTitle" idx="1"/>
          </p:nvPr>
        </p:nvSpPr>
        <p:spPr>
          <a:xfrm>
            <a:off x="1620203" y="3342323"/>
            <a:ext cx="7560945" cy="675217"/>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0254A63B-D148-4F5E-8B5A-5707C65D7CFF}"/>
              </a:ext>
            </a:extLst>
          </p:cNvPr>
          <p:cNvSpPr>
            <a:spLocks noGrp="1"/>
          </p:cNvSpPr>
          <p:nvPr/>
        </p:nvSpPr>
        <p:spPr>
          <a:xfrm>
            <a:off x="5130641" y="2194454"/>
            <a:ext cx="540068" cy="33761"/>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F0217707-9100-4ECB-AB31-1E3ACD61F571}"/>
              </a:ext>
            </a:extLst>
          </p:cNvPr>
          <p:cNvSpPr>
            <a:spLocks noGrp="1"/>
          </p:cNvSpPr>
          <p:nvPr>
            <p:ph type="title"/>
          </p:nvPr>
        </p:nvSpPr>
        <p:spPr>
          <a:xfrm>
            <a:off x="1080135" y="2532063"/>
            <a:ext cx="8641080" cy="1012825"/>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2520C7F4-4559-46F5-831E-78D70DE53360}"/>
              </a:ext>
            </a:extLst>
          </p:cNvPr>
          <p:cNvSpPr>
            <a:spLocks noGrp="1"/>
          </p:cNvSpPr>
          <p:nvPr/>
        </p:nvSpPr>
        <p:spPr>
          <a:xfrm>
            <a:off x="607576" y="1350433"/>
            <a:ext cx="540068" cy="33761"/>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2591AAAA-DF4E-40E9-8E8A-F0CEAE45A273}"/>
              </a:ext>
            </a:extLst>
          </p:cNvPr>
          <p:cNvSpPr>
            <a:spLocks noGrp="1"/>
          </p:cNvSpPr>
          <p:nvPr>
            <p:ph type="title"/>
          </p:nvPr>
        </p:nvSpPr>
        <p:spPr>
          <a:xfrm>
            <a:off x="607576" y="472652"/>
            <a:ext cx="9586198" cy="742738"/>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77BBEC1A-BE59-43E3-9640-30EA84FA6DEA}"/>
              </a:ext>
            </a:extLst>
          </p:cNvPr>
          <p:cNvSpPr>
            <a:spLocks noGrp="1"/>
          </p:cNvSpPr>
          <p:nvPr>
            <p:ph type="body" idx="1"/>
          </p:nvPr>
        </p:nvSpPr>
        <p:spPr>
          <a:xfrm>
            <a:off x="607576" y="1688042"/>
            <a:ext cx="9586198" cy="3781213"/>
          </a:xfrm>
          <a:prstGeom prst="rect">
            <a:avLst/>
          </a:prstGeom>
          <a:noFill/>
          <a:ln>
            <a:noFill/>
            <a:prstDash val="solid"/>
          </a:ln>
        </p:spPr>
        <p:txBody>
          <a:bodyPr wrap="square" lIns="0" tIns="0" rIns="0" bIns="0" anchor="t">
            <a:normAutofit/>
          </a:bodyPr>
          <a:lstStyle>
            <a:lvl1pPr marL="202525" indent="-202525">
              <a:lnSpc>
                <a:spcPct val="110000"/>
              </a:lnSpc>
              <a:spcBef>
                <a:spcPts val="0"/>
              </a:spcBef>
              <a:spcAft>
                <a:spcPts val="1063"/>
              </a:spcAft>
              <a:buChar char="•"/>
              <a:defRPr/>
            </a:lvl1pPr>
            <a:lvl2pPr marL="472559" indent="-202525">
              <a:lnSpc>
                <a:spcPct val="110000"/>
              </a:lnSpc>
              <a:spcBef>
                <a:spcPts val="0"/>
              </a:spcBef>
              <a:spcAft>
                <a:spcPts val="1063"/>
              </a:spcAft>
              <a:buChar char="•"/>
              <a:defRPr/>
            </a:lvl2pPr>
            <a:lvl3pPr marL="742593" indent="-202525">
              <a:lnSpc>
                <a:spcPct val="110000"/>
              </a:lnSpc>
              <a:spcBef>
                <a:spcPts val="0"/>
              </a:spcBef>
              <a:spcAft>
                <a:spcPts val="1063"/>
              </a:spcAft>
              <a:buChar char="•"/>
              <a:defRPr/>
            </a:lvl3pPr>
            <a:lvl4pPr marL="1012627" indent="-202525">
              <a:lnSpc>
                <a:spcPct val="110000"/>
              </a:lnSpc>
              <a:spcBef>
                <a:spcPts val="0"/>
              </a:spcBef>
              <a:spcAft>
                <a:spcPts val="1063"/>
              </a:spcAft>
              <a:buChar char="•"/>
              <a:defRPr/>
            </a:lvl4pPr>
            <a:lvl5pPr marL="1282660" indent="-202525">
              <a:lnSpc>
                <a:spcPct val="110000"/>
              </a:lnSpc>
              <a:spcBef>
                <a:spcPts val="0"/>
              </a:spcBef>
              <a:spcAft>
                <a:spcPts val="1063"/>
              </a:spcAft>
              <a:buChar char="•"/>
              <a:defRPr/>
            </a:lvl5pPr>
            <a:lvl6pPr marL="1552694" indent="-202525">
              <a:lnSpc>
                <a:spcPct val="110000"/>
              </a:lnSpc>
              <a:spcBef>
                <a:spcPts val="0"/>
              </a:spcBef>
              <a:spcAft>
                <a:spcPts val="1063"/>
              </a:spcAft>
              <a:buChar char="•"/>
              <a:defRPr/>
            </a:lvl6pPr>
            <a:lvl7pPr marL="1822728" indent="-202525">
              <a:lnSpc>
                <a:spcPct val="110000"/>
              </a:lnSpc>
              <a:spcBef>
                <a:spcPts val="0"/>
              </a:spcBef>
              <a:spcAft>
                <a:spcPts val="1063"/>
              </a:spcAft>
              <a:buChar char="•"/>
              <a:defRPr/>
            </a:lvl7pPr>
            <a:lvl8pPr marL="2092762" indent="-202525">
              <a:lnSpc>
                <a:spcPct val="110000"/>
              </a:lnSpc>
              <a:spcBef>
                <a:spcPts val="0"/>
              </a:spcBef>
              <a:spcAft>
                <a:spcPts val="1063"/>
              </a:spcAft>
              <a:buChar char="•"/>
              <a:defRPr/>
            </a:lvl8pPr>
            <a:lvl9pPr marL="2362795" indent="-202525">
              <a:lnSpc>
                <a:spcPct val="110000"/>
              </a:lnSpc>
              <a:spcBef>
                <a:spcPts val="0"/>
              </a:spcBef>
              <a:spcAft>
                <a:spcPts val="1063"/>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A40616DD-1E61-4FA7-9908-C1AD10FC50B0}"/>
              </a:ext>
            </a:extLst>
          </p:cNvPr>
          <p:cNvSpPr>
            <a:spLocks noGrp="1"/>
          </p:cNvSpPr>
          <p:nvPr/>
        </p:nvSpPr>
        <p:spPr>
          <a:xfrm>
            <a:off x="607576" y="1350433"/>
            <a:ext cx="540068" cy="33761"/>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1E902BC8-185A-433C-8318-0537ED691BF4}"/>
              </a:ext>
            </a:extLst>
          </p:cNvPr>
          <p:cNvSpPr>
            <a:spLocks noGrp="1"/>
          </p:cNvSpPr>
          <p:nvPr>
            <p:ph type="title"/>
          </p:nvPr>
        </p:nvSpPr>
        <p:spPr>
          <a:xfrm>
            <a:off x="607576" y="472652"/>
            <a:ext cx="9586198" cy="742738"/>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3DFFDD2D-736B-4F7D-825E-8BA4789B11A3}"/>
              </a:ext>
            </a:extLst>
          </p:cNvPr>
          <p:cNvSpPr>
            <a:spLocks noGrp="1"/>
          </p:cNvSpPr>
          <p:nvPr>
            <p:ph type="body" idx="1"/>
          </p:nvPr>
        </p:nvSpPr>
        <p:spPr>
          <a:xfrm>
            <a:off x="607576" y="1688042"/>
            <a:ext cx="4455557" cy="3781213"/>
          </a:xfrm>
          <a:prstGeom prst="rect">
            <a:avLst/>
          </a:prstGeom>
          <a:noFill/>
          <a:ln>
            <a:noFill/>
            <a:prstDash val="solid"/>
          </a:ln>
        </p:spPr>
        <p:txBody>
          <a:bodyPr wrap="square" lIns="0" tIns="0" rIns="0" bIns="0" anchor="t">
            <a:normAutofit/>
          </a:bodyPr>
          <a:lstStyle>
            <a:lvl1pPr marL="202525" indent="-202525">
              <a:lnSpc>
                <a:spcPct val="110000"/>
              </a:lnSpc>
              <a:spcBef>
                <a:spcPts val="0"/>
              </a:spcBef>
              <a:spcAft>
                <a:spcPts val="1063"/>
              </a:spcAft>
              <a:buChar char="•"/>
              <a:defRPr/>
            </a:lvl1pPr>
            <a:lvl2pPr marL="472559" indent="-202525">
              <a:lnSpc>
                <a:spcPct val="110000"/>
              </a:lnSpc>
              <a:spcBef>
                <a:spcPts val="0"/>
              </a:spcBef>
              <a:spcAft>
                <a:spcPts val="1063"/>
              </a:spcAft>
              <a:buChar char="•"/>
              <a:defRPr/>
            </a:lvl2pPr>
            <a:lvl3pPr marL="742593" indent="-202525">
              <a:lnSpc>
                <a:spcPct val="110000"/>
              </a:lnSpc>
              <a:spcBef>
                <a:spcPts val="0"/>
              </a:spcBef>
              <a:spcAft>
                <a:spcPts val="1063"/>
              </a:spcAft>
              <a:buChar char="•"/>
              <a:defRPr/>
            </a:lvl3pPr>
            <a:lvl4pPr marL="1012627" indent="-202525">
              <a:lnSpc>
                <a:spcPct val="110000"/>
              </a:lnSpc>
              <a:spcBef>
                <a:spcPts val="0"/>
              </a:spcBef>
              <a:spcAft>
                <a:spcPts val="1063"/>
              </a:spcAft>
              <a:buChar char="•"/>
              <a:defRPr/>
            </a:lvl4pPr>
            <a:lvl5pPr marL="1282660" indent="-202525">
              <a:lnSpc>
                <a:spcPct val="110000"/>
              </a:lnSpc>
              <a:spcBef>
                <a:spcPts val="0"/>
              </a:spcBef>
              <a:spcAft>
                <a:spcPts val="1063"/>
              </a:spcAft>
              <a:buChar char="•"/>
              <a:defRPr/>
            </a:lvl5pPr>
            <a:lvl6pPr marL="1552694" indent="-202525">
              <a:lnSpc>
                <a:spcPct val="110000"/>
              </a:lnSpc>
              <a:spcBef>
                <a:spcPts val="0"/>
              </a:spcBef>
              <a:spcAft>
                <a:spcPts val="1063"/>
              </a:spcAft>
              <a:buChar char="•"/>
              <a:defRPr/>
            </a:lvl6pPr>
            <a:lvl7pPr marL="1822728" indent="-202525">
              <a:lnSpc>
                <a:spcPct val="110000"/>
              </a:lnSpc>
              <a:spcBef>
                <a:spcPts val="0"/>
              </a:spcBef>
              <a:spcAft>
                <a:spcPts val="1063"/>
              </a:spcAft>
              <a:buChar char="•"/>
              <a:defRPr/>
            </a:lvl7pPr>
            <a:lvl8pPr marL="2092762" indent="-202525">
              <a:lnSpc>
                <a:spcPct val="110000"/>
              </a:lnSpc>
              <a:spcBef>
                <a:spcPts val="0"/>
              </a:spcBef>
              <a:spcAft>
                <a:spcPts val="1063"/>
              </a:spcAft>
              <a:buChar char="•"/>
              <a:defRPr/>
            </a:lvl8pPr>
            <a:lvl9pPr marL="2362795" indent="-202525">
              <a:lnSpc>
                <a:spcPct val="110000"/>
              </a:lnSpc>
              <a:spcBef>
                <a:spcPts val="0"/>
              </a:spcBef>
              <a:spcAft>
                <a:spcPts val="1063"/>
              </a:spcAft>
              <a:buChar char="•"/>
              <a:defRPr/>
            </a:lvl9pPr>
          </a:lstStyle>
          <a:p>
            <a:endParaRPr/>
          </a:p>
        </p:txBody>
      </p:sp>
      <p:sp>
        <p:nvSpPr>
          <p:cNvPr id="4" name="Right column">
            <a:extLst>
              <a:ext uri="{FF2B5EF4-FFF2-40B4-BE49-F238E27FC236}">
                <a16:creationId xmlns:a16="http://schemas.microsoft.com/office/drawing/2014/main" id="{7EDCE280-B536-4890-B444-5C33FE3FD541}"/>
              </a:ext>
            </a:extLst>
          </p:cNvPr>
          <p:cNvSpPr>
            <a:spLocks noGrp="1"/>
          </p:cNvSpPr>
          <p:nvPr>
            <p:ph type="body" idx="2"/>
          </p:nvPr>
        </p:nvSpPr>
        <p:spPr>
          <a:xfrm>
            <a:off x="5738217" y="1688042"/>
            <a:ext cx="4455557" cy="3781213"/>
          </a:xfrm>
          <a:prstGeom prst="rect">
            <a:avLst/>
          </a:prstGeom>
          <a:noFill/>
          <a:ln>
            <a:noFill/>
            <a:prstDash val="solid"/>
          </a:ln>
        </p:spPr>
        <p:txBody>
          <a:bodyPr wrap="square" lIns="0" tIns="0" rIns="0" bIns="0" anchor="t">
            <a:normAutofit/>
          </a:bodyPr>
          <a:lstStyle>
            <a:lvl1pPr marL="202525" indent="-202525">
              <a:lnSpc>
                <a:spcPct val="110000"/>
              </a:lnSpc>
              <a:spcBef>
                <a:spcPts val="0"/>
              </a:spcBef>
              <a:spcAft>
                <a:spcPts val="1063"/>
              </a:spcAft>
              <a:buChar char="•"/>
              <a:defRPr/>
            </a:lvl1pPr>
            <a:lvl2pPr marL="472559" indent="-202525">
              <a:lnSpc>
                <a:spcPct val="110000"/>
              </a:lnSpc>
              <a:spcBef>
                <a:spcPts val="0"/>
              </a:spcBef>
              <a:spcAft>
                <a:spcPts val="1063"/>
              </a:spcAft>
              <a:buChar char="•"/>
              <a:defRPr/>
            </a:lvl2pPr>
            <a:lvl3pPr marL="742593" indent="-202525">
              <a:lnSpc>
                <a:spcPct val="110000"/>
              </a:lnSpc>
              <a:spcBef>
                <a:spcPts val="0"/>
              </a:spcBef>
              <a:spcAft>
                <a:spcPts val="1063"/>
              </a:spcAft>
              <a:buChar char="•"/>
              <a:defRPr/>
            </a:lvl3pPr>
            <a:lvl4pPr marL="1012627" indent="-202525">
              <a:lnSpc>
                <a:spcPct val="110000"/>
              </a:lnSpc>
              <a:spcBef>
                <a:spcPts val="0"/>
              </a:spcBef>
              <a:spcAft>
                <a:spcPts val="1063"/>
              </a:spcAft>
              <a:buChar char="•"/>
              <a:defRPr/>
            </a:lvl4pPr>
            <a:lvl5pPr marL="1282660" indent="-202525">
              <a:lnSpc>
                <a:spcPct val="110000"/>
              </a:lnSpc>
              <a:spcBef>
                <a:spcPts val="0"/>
              </a:spcBef>
              <a:spcAft>
                <a:spcPts val="1063"/>
              </a:spcAft>
              <a:buChar char="•"/>
              <a:defRPr/>
            </a:lvl5pPr>
            <a:lvl6pPr marL="1552694" indent="-202525">
              <a:lnSpc>
                <a:spcPct val="110000"/>
              </a:lnSpc>
              <a:spcBef>
                <a:spcPts val="0"/>
              </a:spcBef>
              <a:spcAft>
                <a:spcPts val="1063"/>
              </a:spcAft>
              <a:buChar char="•"/>
              <a:defRPr/>
            </a:lvl6pPr>
            <a:lvl7pPr marL="1822728" indent="-202525">
              <a:lnSpc>
                <a:spcPct val="110000"/>
              </a:lnSpc>
              <a:spcBef>
                <a:spcPts val="0"/>
              </a:spcBef>
              <a:spcAft>
                <a:spcPts val="1063"/>
              </a:spcAft>
              <a:buChar char="•"/>
              <a:defRPr/>
            </a:lvl7pPr>
            <a:lvl8pPr marL="2092762" indent="-202525">
              <a:lnSpc>
                <a:spcPct val="110000"/>
              </a:lnSpc>
              <a:spcBef>
                <a:spcPts val="0"/>
              </a:spcBef>
              <a:spcAft>
                <a:spcPts val="1063"/>
              </a:spcAft>
              <a:buChar char="•"/>
              <a:defRPr/>
            </a:lvl8pPr>
            <a:lvl9pPr marL="2362795" indent="-202525">
              <a:lnSpc>
                <a:spcPct val="110000"/>
              </a:lnSpc>
              <a:spcBef>
                <a:spcPts val="0"/>
              </a:spcBef>
              <a:spcAft>
                <a:spcPts val="1063"/>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2F2978E5-8B13-44DE-876A-0D75CB664290}"/>
              </a:ext>
            </a:extLst>
          </p:cNvPr>
          <p:cNvSpPr>
            <a:spLocks noGrp="1"/>
          </p:cNvSpPr>
          <p:nvPr/>
        </p:nvSpPr>
        <p:spPr>
          <a:xfrm>
            <a:off x="607576" y="1350433"/>
            <a:ext cx="540068" cy="33761"/>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9DDFB8E-4584-4678-A70F-B49E0C60D5B6}"/>
              </a:ext>
            </a:extLst>
          </p:cNvPr>
          <p:cNvSpPr>
            <a:spLocks noGrp="1"/>
          </p:cNvSpPr>
          <p:nvPr>
            <p:ph type="title"/>
          </p:nvPr>
        </p:nvSpPr>
        <p:spPr>
          <a:xfrm>
            <a:off x="607576" y="472652"/>
            <a:ext cx="9586198" cy="742738"/>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A5879053-D2D8-4ACB-88AC-DC8F06701345}"/>
              </a:ext>
            </a:extLst>
          </p:cNvPr>
          <p:cNvSpPr>
            <a:spLocks noGrp="1"/>
          </p:cNvSpPr>
          <p:nvPr>
            <p:ph type="body" idx="1"/>
          </p:nvPr>
        </p:nvSpPr>
        <p:spPr>
          <a:xfrm>
            <a:off x="607576" y="1688042"/>
            <a:ext cx="4455557" cy="3781213"/>
          </a:xfrm>
          <a:prstGeom prst="rect">
            <a:avLst/>
          </a:prstGeom>
          <a:noFill/>
          <a:ln>
            <a:noFill/>
            <a:prstDash val="solid"/>
          </a:ln>
        </p:spPr>
        <p:txBody>
          <a:bodyPr wrap="square" lIns="0" tIns="0" rIns="0" bIns="0" anchor="t">
            <a:normAutofit/>
          </a:bodyPr>
          <a:lstStyle>
            <a:lvl1pPr marL="202525" indent="-202525">
              <a:lnSpc>
                <a:spcPct val="110000"/>
              </a:lnSpc>
              <a:spcBef>
                <a:spcPts val="0"/>
              </a:spcBef>
              <a:spcAft>
                <a:spcPts val="1063"/>
              </a:spcAft>
              <a:buChar char="•"/>
              <a:defRPr/>
            </a:lvl1pPr>
            <a:lvl2pPr marL="472559" indent="-202525">
              <a:lnSpc>
                <a:spcPct val="110000"/>
              </a:lnSpc>
              <a:spcBef>
                <a:spcPts val="0"/>
              </a:spcBef>
              <a:spcAft>
                <a:spcPts val="1063"/>
              </a:spcAft>
              <a:buChar char="•"/>
              <a:defRPr/>
            </a:lvl2pPr>
            <a:lvl3pPr marL="742593" indent="-202525">
              <a:lnSpc>
                <a:spcPct val="110000"/>
              </a:lnSpc>
              <a:spcBef>
                <a:spcPts val="0"/>
              </a:spcBef>
              <a:spcAft>
                <a:spcPts val="1063"/>
              </a:spcAft>
              <a:buChar char="•"/>
              <a:defRPr/>
            </a:lvl3pPr>
            <a:lvl4pPr marL="1012627" indent="-202525">
              <a:lnSpc>
                <a:spcPct val="110000"/>
              </a:lnSpc>
              <a:spcBef>
                <a:spcPts val="0"/>
              </a:spcBef>
              <a:spcAft>
                <a:spcPts val="1063"/>
              </a:spcAft>
              <a:buChar char="•"/>
              <a:defRPr/>
            </a:lvl4pPr>
            <a:lvl5pPr marL="1282660" indent="-202525">
              <a:lnSpc>
                <a:spcPct val="110000"/>
              </a:lnSpc>
              <a:spcBef>
                <a:spcPts val="0"/>
              </a:spcBef>
              <a:spcAft>
                <a:spcPts val="1063"/>
              </a:spcAft>
              <a:buChar char="•"/>
              <a:defRPr/>
            </a:lvl5pPr>
            <a:lvl6pPr marL="1552694" indent="-202525">
              <a:lnSpc>
                <a:spcPct val="110000"/>
              </a:lnSpc>
              <a:spcBef>
                <a:spcPts val="0"/>
              </a:spcBef>
              <a:spcAft>
                <a:spcPts val="1063"/>
              </a:spcAft>
              <a:buChar char="•"/>
              <a:defRPr/>
            </a:lvl6pPr>
            <a:lvl7pPr marL="1822728" indent="-202525">
              <a:lnSpc>
                <a:spcPct val="110000"/>
              </a:lnSpc>
              <a:spcBef>
                <a:spcPts val="0"/>
              </a:spcBef>
              <a:spcAft>
                <a:spcPts val="1063"/>
              </a:spcAft>
              <a:buChar char="•"/>
              <a:defRPr/>
            </a:lvl7pPr>
            <a:lvl8pPr marL="2092762" indent="-202525">
              <a:lnSpc>
                <a:spcPct val="110000"/>
              </a:lnSpc>
              <a:spcBef>
                <a:spcPts val="0"/>
              </a:spcBef>
              <a:spcAft>
                <a:spcPts val="1063"/>
              </a:spcAft>
              <a:buChar char="•"/>
              <a:defRPr/>
            </a:lvl8pPr>
            <a:lvl9pPr marL="2362795" indent="-202525">
              <a:lnSpc>
                <a:spcPct val="110000"/>
              </a:lnSpc>
              <a:spcBef>
                <a:spcPts val="0"/>
              </a:spcBef>
              <a:spcAft>
                <a:spcPts val="1063"/>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8" Type="http://schemas.openxmlformats.org/officeDocument/2006/relationships/hyperlink" Target="https://www.researchgate.net/publication/389765045_A_LoRa-Based_Communication_System_for_Real-Time_Location_Tracking_and_Emergency_Signaling_in_Military_Simulation_Exercises" TargetMode="External"/><Relationship Id="rId3" Type="http://schemas.openxmlformats.org/officeDocument/2006/relationships/image" Target="../media/image1.png"/><Relationship Id="rId7" Type="http://schemas.openxmlformats.org/officeDocument/2006/relationships/hyperlink" Target="https://ieeexplore.ieee.org/document/10911982"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hyperlink" Target="https://www.mokosmart.com/what-is-a-lora-module/" TargetMode="External"/><Relationship Id="rId5" Type="http://schemas.openxmlformats.org/officeDocument/2006/relationships/hyperlink" Target="https://doi.org/10.18280/ijsse.140610" TargetMode="External"/><Relationship Id="rId4" Type="http://schemas.openxmlformats.org/officeDocument/2006/relationships/hyperlink" Target="https://doi.org/10.11591/ijece.v11i4.pp3123-3128" TargetMode="External"/><Relationship Id="rId9" Type="http://schemas.openxmlformats.org/officeDocument/2006/relationships/hyperlink" Target="https://ieeexplore.ieee.org/document/11398157"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3"/>
          <p:cNvPicPr>
            <a:picLocks noChangeAspect="1"/>
          </p:cNvPicPr>
          <p:nvPr/>
        </p:nvPicPr>
        <p:blipFill>
          <a:blip r:embed="rId3"/>
          <a:srcRect/>
          <a:stretch>
            <a:fillRect/>
          </a:stretch>
        </p:blipFill>
        <p:spPr>
          <a:xfrm>
            <a:off x="0" y="0"/>
            <a:ext cx="10801350" cy="6076950"/>
          </a:xfrm>
          <a:prstGeom prst="rect">
            <a:avLst/>
          </a:prstGeom>
        </p:spPr>
      </p:pic>
      <p:sp>
        <p:nvSpPr>
          <p:cNvPr id="2" name="cover-content-whiteout">
            <a:extLst>
              <a:ext uri="{FF2B5EF4-FFF2-40B4-BE49-F238E27FC236}">
                <a16:creationId xmlns:a16="http://schemas.microsoft.com/office/drawing/2014/main" id="{0BFED6DE-8FE9-4823-896B-2500DCC45970}"/>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6" name="institution">
            <a:extLst>
              <a:ext uri="{FF2B5EF4-FFF2-40B4-BE49-F238E27FC236}">
                <a16:creationId xmlns:a16="http://schemas.microsoft.com/office/drawing/2014/main" id="{349EF702-15A1-4EA7-BF2A-C1C4EFFD3EEE}"/>
              </a:ext>
            </a:extLst>
          </p:cNvPr>
          <p:cNvSpPr>
            <a:spLocks noGrp="1"/>
          </p:cNvSpPr>
          <p:nvPr/>
        </p:nvSpPr>
        <p:spPr>
          <a:xfrm>
            <a:off x="1186961" y="1505957"/>
            <a:ext cx="9347322" cy="326414"/>
          </a:xfrm>
          <a:prstGeom prst="rect">
            <a:avLst/>
          </a:prstGeom>
          <a:noFill/>
        </p:spPr>
        <p:txBody>
          <a:bodyPr wrap="square" lIns="0" tIns="0" rIns="0" bIns="0" anchor="ctr">
            <a:noAutofit/>
          </a:bodyPr>
          <a:lstStyle/>
          <a:p>
            <a:pPr algn="ctr">
              <a:buNone/>
            </a:pPr>
            <a:r>
              <a:rPr sz="1770" b="1">
                <a:solidFill>
                  <a:srgbClr val="C00000"/>
                </a:solidFill>
                <a:latin typeface="Times New Roman"/>
                <a:ea typeface="Times New Roman"/>
                <a:cs typeface="Times New Roman"/>
              </a:rPr>
              <a:t>K. J. Somaiya Institute of Information Technology, Mumbai</a:t>
            </a:r>
          </a:p>
        </p:txBody>
      </p:sp>
      <p:sp>
        <p:nvSpPr>
          <p:cNvPr id="7" name="department">
            <a:extLst>
              <a:ext uri="{FF2B5EF4-FFF2-40B4-BE49-F238E27FC236}">
                <a16:creationId xmlns:a16="http://schemas.microsoft.com/office/drawing/2014/main" id="{D3DD31E1-6157-4D2F-B7F6-94673D2E1307}"/>
              </a:ext>
            </a:extLst>
          </p:cNvPr>
          <p:cNvSpPr>
            <a:spLocks noGrp="1"/>
          </p:cNvSpPr>
          <p:nvPr/>
        </p:nvSpPr>
        <p:spPr>
          <a:xfrm>
            <a:off x="1186961" y="2121693"/>
            <a:ext cx="9347322" cy="326414"/>
          </a:xfrm>
          <a:prstGeom prst="rect">
            <a:avLst/>
          </a:prstGeom>
          <a:noFill/>
        </p:spPr>
        <p:txBody>
          <a:bodyPr wrap="square" lIns="0" tIns="0" rIns="0" bIns="0" anchor="ctr">
            <a:noAutofit/>
          </a:bodyPr>
          <a:lstStyle/>
          <a:p>
            <a:pPr algn="ctr">
              <a:buNone/>
            </a:pPr>
            <a:r>
              <a:rPr sz="2126" b="1" u="sng">
                <a:solidFill>
                  <a:srgbClr val="052358"/>
                </a:solidFill>
                <a:latin typeface="Times New Roman"/>
                <a:ea typeface="Times New Roman"/>
                <a:cs typeface="Times New Roman"/>
              </a:rPr>
              <a:t>Department of Electronics and Telecommunication Engineering</a:t>
            </a:r>
          </a:p>
        </p:txBody>
      </p:sp>
      <p:sp>
        <p:nvSpPr>
          <p:cNvPr id="8" name="competition">
            <a:extLst>
              <a:ext uri="{FF2B5EF4-FFF2-40B4-BE49-F238E27FC236}">
                <a16:creationId xmlns:a16="http://schemas.microsoft.com/office/drawing/2014/main" id="{378BE8BC-E40D-459E-BB5B-C12250673551}"/>
              </a:ext>
            </a:extLst>
          </p:cNvPr>
          <p:cNvSpPr>
            <a:spLocks noGrp="1"/>
          </p:cNvSpPr>
          <p:nvPr/>
        </p:nvSpPr>
        <p:spPr>
          <a:xfrm>
            <a:off x="1186961" y="2774522"/>
            <a:ext cx="9347322" cy="326414"/>
          </a:xfrm>
          <a:prstGeom prst="rect">
            <a:avLst/>
          </a:prstGeom>
          <a:noFill/>
        </p:spPr>
        <p:txBody>
          <a:bodyPr wrap="square" lIns="0" tIns="0" rIns="0" bIns="0" anchor="ctr">
            <a:noAutofit/>
          </a:bodyPr>
          <a:lstStyle/>
          <a:p>
            <a:pPr algn="ctr">
              <a:buNone/>
            </a:pPr>
            <a:r>
              <a:rPr sz="2126" b="1">
                <a:solidFill>
                  <a:srgbClr val="4515F3"/>
                </a:solidFill>
                <a:latin typeface="Times New Roman"/>
                <a:ea typeface="Times New Roman"/>
                <a:cs typeface="Times New Roman"/>
              </a:rPr>
              <a:t>Project Competition</a:t>
            </a:r>
          </a:p>
        </p:txBody>
      </p:sp>
      <p:sp>
        <p:nvSpPr>
          <p:cNvPr id="9" name="event">
            <a:extLst>
              <a:ext uri="{FF2B5EF4-FFF2-40B4-BE49-F238E27FC236}">
                <a16:creationId xmlns:a16="http://schemas.microsoft.com/office/drawing/2014/main" id="{E4823718-9B6C-4D4A-94DA-835206C0FD2E}"/>
              </a:ext>
            </a:extLst>
          </p:cNvPr>
          <p:cNvSpPr>
            <a:spLocks noGrp="1"/>
          </p:cNvSpPr>
          <p:nvPr/>
        </p:nvSpPr>
        <p:spPr>
          <a:xfrm>
            <a:off x="1186961" y="3419932"/>
            <a:ext cx="9347322" cy="326414"/>
          </a:xfrm>
          <a:prstGeom prst="rect">
            <a:avLst/>
          </a:prstGeom>
          <a:noFill/>
        </p:spPr>
        <p:txBody>
          <a:bodyPr wrap="square" lIns="0" tIns="0" rIns="0" bIns="0" anchor="ctr">
            <a:noAutofit/>
          </a:bodyPr>
          <a:lstStyle/>
          <a:p>
            <a:pPr algn="ctr">
              <a:buNone/>
            </a:pPr>
            <a:r>
              <a:rPr sz="2126" b="1" dirty="0">
                <a:solidFill>
                  <a:srgbClr val="4515F3"/>
                </a:solidFill>
                <a:latin typeface="Times New Roman"/>
                <a:ea typeface="Times New Roman"/>
                <a:cs typeface="Times New Roman"/>
              </a:rPr>
              <a:t>PRAGYAN 2.0</a:t>
            </a:r>
            <a:r>
              <a:rPr sz="2126" b="0" dirty="0">
                <a:solidFill>
                  <a:srgbClr val="4515F3"/>
                </a:solidFill>
                <a:latin typeface="Times New Roman"/>
                <a:ea typeface="Times New Roman"/>
                <a:cs typeface="Times New Roman"/>
              </a:rPr>
              <a:t> under </a:t>
            </a:r>
            <a:r>
              <a:rPr sz="2126" b="1" dirty="0">
                <a:solidFill>
                  <a:srgbClr val="4515F3"/>
                </a:solidFill>
                <a:latin typeface="Times New Roman"/>
                <a:ea typeface="Times New Roman"/>
                <a:cs typeface="Times New Roman"/>
              </a:rPr>
              <a:t>ABHIGYAN 2026</a:t>
            </a:r>
          </a:p>
        </p:txBody>
      </p:sp>
      <p:sp>
        <p:nvSpPr>
          <p:cNvPr id="10" name="on">
            <a:extLst>
              <a:ext uri="{FF2B5EF4-FFF2-40B4-BE49-F238E27FC236}">
                <a16:creationId xmlns:a16="http://schemas.microsoft.com/office/drawing/2014/main" id="{A5E8265D-0BD9-4843-8912-BB379A271EF9}"/>
              </a:ext>
            </a:extLst>
          </p:cNvPr>
          <p:cNvSpPr>
            <a:spLocks noGrp="1"/>
          </p:cNvSpPr>
          <p:nvPr/>
        </p:nvSpPr>
        <p:spPr>
          <a:xfrm>
            <a:off x="1186961" y="3776021"/>
            <a:ext cx="9347322" cy="267066"/>
          </a:xfrm>
          <a:prstGeom prst="rect">
            <a:avLst/>
          </a:prstGeom>
          <a:noFill/>
        </p:spPr>
        <p:txBody>
          <a:bodyPr wrap="square" lIns="0" tIns="0" rIns="0" bIns="0" anchor="ctr">
            <a:noAutofit/>
          </a:bodyPr>
          <a:lstStyle/>
          <a:p>
            <a:pPr algn="ctr">
              <a:buNone/>
            </a:pPr>
            <a:r>
              <a:rPr sz="2126" b="0">
                <a:solidFill>
                  <a:srgbClr val="4515F3"/>
                </a:solidFill>
                <a:latin typeface="Times New Roman"/>
                <a:ea typeface="Times New Roman"/>
                <a:cs typeface="Times New Roman"/>
              </a:rPr>
              <a:t>on</a:t>
            </a:r>
          </a:p>
        </p:txBody>
      </p:sp>
      <p:sp>
        <p:nvSpPr>
          <p:cNvPr id="11" name="date">
            <a:extLst>
              <a:ext uri="{FF2B5EF4-FFF2-40B4-BE49-F238E27FC236}">
                <a16:creationId xmlns:a16="http://schemas.microsoft.com/office/drawing/2014/main" id="{567C5B8B-358F-48B4-A4F0-9071F0A5F62B}"/>
              </a:ext>
            </a:extLst>
          </p:cNvPr>
          <p:cNvSpPr>
            <a:spLocks noGrp="1"/>
          </p:cNvSpPr>
          <p:nvPr/>
        </p:nvSpPr>
        <p:spPr>
          <a:xfrm>
            <a:off x="1186961" y="4072761"/>
            <a:ext cx="9347322" cy="326414"/>
          </a:xfrm>
          <a:prstGeom prst="rect">
            <a:avLst/>
          </a:prstGeom>
          <a:noFill/>
        </p:spPr>
        <p:txBody>
          <a:bodyPr wrap="square" lIns="0" tIns="0" rIns="0" bIns="0" anchor="ctr">
            <a:noAutofit/>
          </a:bodyPr>
          <a:lstStyle/>
          <a:p>
            <a:pPr algn="ctr">
              <a:buNone/>
            </a:pPr>
            <a:r>
              <a:rPr sz="2126" b="1" dirty="0">
                <a:solidFill>
                  <a:srgbClr val="4515F3"/>
                </a:solidFill>
                <a:latin typeface="Times New Roman"/>
                <a:ea typeface="Times New Roman"/>
                <a:cs typeface="Times New Roman"/>
              </a:rPr>
              <a:t>8th October 2026</a:t>
            </a:r>
          </a:p>
        </p:txBody>
      </p:sp>
      <p:sp>
        <p:nvSpPr>
          <p:cNvPr id="12" name="academic-year">
            <a:extLst>
              <a:ext uri="{FF2B5EF4-FFF2-40B4-BE49-F238E27FC236}">
                <a16:creationId xmlns:a16="http://schemas.microsoft.com/office/drawing/2014/main" id="{41B16DDF-E870-45F6-9556-1C5F058DF57B}"/>
              </a:ext>
            </a:extLst>
          </p:cNvPr>
          <p:cNvSpPr>
            <a:spLocks noGrp="1"/>
          </p:cNvSpPr>
          <p:nvPr/>
        </p:nvSpPr>
        <p:spPr>
          <a:xfrm>
            <a:off x="1186961" y="4584638"/>
            <a:ext cx="9347322" cy="326414"/>
          </a:xfrm>
          <a:prstGeom prst="rect">
            <a:avLst/>
          </a:prstGeom>
          <a:noFill/>
        </p:spPr>
        <p:txBody>
          <a:bodyPr wrap="square" lIns="0" tIns="0" rIns="0" bIns="0" anchor="ctr">
            <a:noAutofit/>
          </a:bodyPr>
          <a:lstStyle/>
          <a:p>
            <a:pPr algn="ctr">
              <a:buNone/>
            </a:pPr>
            <a:r>
              <a:rPr sz="1770" b="1">
                <a:solidFill>
                  <a:srgbClr val="052358"/>
                </a:solidFill>
                <a:latin typeface="Times New Roman"/>
                <a:ea typeface="Times New Roman"/>
                <a:cs typeface="Times New Roman"/>
              </a:rPr>
              <a:t>Academic Year 2025-2026</a:t>
            </a:r>
          </a:p>
        </p:txBody>
      </p:sp>
      <p:sp>
        <p:nvSpPr>
          <p:cNvPr id="13" name="project-title">
            <a:extLst>
              <a:ext uri="{FF2B5EF4-FFF2-40B4-BE49-F238E27FC236}">
                <a16:creationId xmlns:a16="http://schemas.microsoft.com/office/drawing/2014/main" id="{A6F909FB-902F-4665-B34C-5C2D25D55E26}"/>
              </a:ext>
            </a:extLst>
          </p:cNvPr>
          <p:cNvSpPr>
            <a:spLocks noGrp="1"/>
          </p:cNvSpPr>
          <p:nvPr/>
        </p:nvSpPr>
        <p:spPr>
          <a:xfrm>
            <a:off x="1186961" y="4903634"/>
            <a:ext cx="9347322" cy="652828"/>
          </a:xfrm>
          <a:prstGeom prst="rect">
            <a:avLst/>
          </a:prstGeom>
          <a:noFill/>
        </p:spPr>
        <p:txBody>
          <a:bodyPr wrap="square" lIns="0" tIns="0" rIns="0" bIns="0" anchor="ctr">
            <a:noAutofit/>
          </a:bodyPr>
          <a:lstStyle/>
          <a:p>
            <a:pPr algn="ctr">
              <a:buNone/>
            </a:pPr>
            <a:r>
              <a:rPr sz="2000" b="1">
                <a:solidFill>
                  <a:srgbClr val="C00000"/>
                </a:solidFill>
                <a:latin typeface="Times New Roman"/>
                <a:ea typeface="Times New Roman"/>
                <a:cs typeface="Times New Roman"/>
              </a:rPr>
              <a:t>Design and Implementation of a LoRa-Based Real-Time Tracking and Communication System</a:t>
            </a:r>
          </a:p>
        </p:txBody>
      </p:sp>
      <p:sp>
        <p:nvSpPr>
          <p:cNvPr id="3" name="team">
            <a:extLst>
              <a:ext uri="{FF2B5EF4-FFF2-40B4-BE49-F238E27FC236}">
                <a16:creationId xmlns:a16="http://schemas.microsoft.com/office/drawing/2014/main" id="{015FD502-4A8D-4324-8615-3E388E0BF6C5}"/>
              </a:ext>
            </a:extLst>
          </p:cNvPr>
          <p:cNvSpPr>
            <a:spLocks noGrp="1"/>
          </p:cNvSpPr>
          <p:nvPr/>
        </p:nvSpPr>
        <p:spPr>
          <a:xfrm>
            <a:off x="1186961" y="5667741"/>
            <a:ext cx="9347322" cy="341251"/>
          </a:xfrm>
          <a:prstGeom prst="rect">
            <a:avLst/>
          </a:prstGeom>
          <a:noFill/>
        </p:spPr>
        <p:txBody>
          <a:bodyPr wrap="square" lIns="0" tIns="0" rIns="0" bIns="0" anchor="ctr">
            <a:noAutofit/>
          </a:bodyPr>
          <a:lstStyle/>
          <a:p>
            <a:pPr algn="ctr">
              <a:buNone/>
            </a:pPr>
            <a:r>
              <a:rPr sz="1200" b="1" dirty="0">
                <a:solidFill>
                  <a:srgbClr val="052358"/>
                </a:solidFill>
                <a:latin typeface="Times New Roman"/>
                <a:ea typeface="Times New Roman"/>
                <a:cs typeface="Times New Roman"/>
              </a:rPr>
              <a:t>Sujal Bhandari (LYB-26)  |  Varsha Chaudhari (LYB-27)  |  Pratik </a:t>
            </a:r>
            <a:r>
              <a:rPr sz="1200" b="1" dirty="0" err="1">
                <a:solidFill>
                  <a:srgbClr val="052358"/>
                </a:solidFill>
                <a:latin typeface="Times New Roman"/>
                <a:ea typeface="Times New Roman"/>
                <a:cs typeface="Times New Roman"/>
              </a:rPr>
              <a:t>Narvadkar</a:t>
            </a:r>
            <a:r>
              <a:rPr sz="1200" b="1" dirty="0">
                <a:solidFill>
                  <a:srgbClr val="052358"/>
                </a:solidFill>
                <a:latin typeface="Times New Roman"/>
                <a:ea typeface="Times New Roman"/>
                <a:cs typeface="Times New Roman"/>
              </a:rPr>
              <a:t> (LY</a:t>
            </a:r>
            <a:r>
              <a:rPr lang="en-US" sz="1200" b="1" dirty="0">
                <a:solidFill>
                  <a:srgbClr val="052358"/>
                </a:solidFill>
                <a:latin typeface="Times New Roman"/>
                <a:ea typeface="Times New Roman"/>
                <a:cs typeface="Times New Roman"/>
              </a:rPr>
              <a:t>B</a:t>
            </a:r>
            <a:r>
              <a:rPr sz="1200" b="1" dirty="0">
                <a:solidFill>
                  <a:srgbClr val="052358"/>
                </a:solidFill>
                <a:latin typeface="Times New Roman"/>
                <a:ea typeface="Times New Roman"/>
                <a:cs typeface="Times New Roman"/>
              </a:rPr>
              <a:t>-54)</a:t>
            </a:r>
          </a:p>
          <a:p>
            <a:pPr algn="ctr">
              <a:buNone/>
            </a:pPr>
            <a:r>
              <a:rPr sz="1200" b="0" dirty="0">
                <a:solidFill>
                  <a:srgbClr val="052358"/>
                </a:solidFill>
                <a:latin typeface="Times New Roman"/>
                <a:ea typeface="Times New Roman"/>
                <a:cs typeface="Times New Roman"/>
              </a:rPr>
              <a:t>Guide: Prof. Rupali Satpute</a:t>
            </a:r>
          </a:p>
        </p:txBody>
      </p:sp>
    </p:spTree>
    <p:extLst>
      <p:ext uri="{BB962C8B-B14F-4D97-AF65-F5344CB8AC3E}">
        <p14:creationId xmlns:p14="http://schemas.microsoft.com/office/powerpoint/2010/main" val="1173816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DABB45CE-6822-4310-AAE3-715C0E1FE357}"/>
              </a:ext>
            </a:extLst>
          </p:cNvPr>
          <p:cNvSpPr>
            <a:spLocks noGrp="1"/>
          </p:cNvSpPr>
          <p:nvPr/>
        </p:nvSpPr>
        <p:spPr>
          <a:xfrm>
            <a:off x="1292789" y="1191083"/>
            <a:ext cx="9505188" cy="5023612"/>
          </a:xfrm>
          <a:prstGeom prst="rect">
            <a:avLst/>
          </a:prstGeom>
          <a:solidFill>
            <a:srgbClr val="FFFFFF"/>
          </a:solidFill>
          <a:ln w="0">
            <a:noFill/>
            <a:prstDash val="solid"/>
          </a:ln>
        </p:spPr>
        <p:txBody>
          <a:bodyPr/>
          <a:lstStyle/>
          <a:p>
            <a:endParaRPr/>
          </a:p>
        </p:txBody>
      </p:sp>
      <p:sp>
        <p:nvSpPr>
          <p:cNvPr id="3" name="section-marker">
            <a:extLst>
              <a:ext uri="{FF2B5EF4-FFF2-40B4-BE49-F238E27FC236}">
                <a16:creationId xmlns:a16="http://schemas.microsoft.com/office/drawing/2014/main" id="{6915E6A7-4FF4-4FD8-8472-FED0D0350F9F}"/>
              </a:ext>
            </a:extLst>
          </p:cNvPr>
          <p:cNvSpPr>
            <a:spLocks noGrp="1"/>
          </p:cNvSpPr>
          <p:nvPr/>
        </p:nvSpPr>
        <p:spPr>
          <a:xfrm>
            <a:off x="2475940" y="1280211"/>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77491661-9870-4051-A656-B50B9642A417}"/>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Presentation Outline</a:t>
            </a:r>
          </a:p>
        </p:txBody>
      </p:sp>
      <p:sp>
        <p:nvSpPr>
          <p:cNvPr id="5" name="page-number">
            <a:extLst>
              <a:ext uri="{FF2B5EF4-FFF2-40B4-BE49-F238E27FC236}">
                <a16:creationId xmlns:a16="http://schemas.microsoft.com/office/drawing/2014/main" id="{8E6CA426-5FAE-43DC-9263-F62ED0924842}"/>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2</a:t>
            </a:r>
          </a:p>
        </p:txBody>
      </p:sp>
      <p:sp>
        <p:nvSpPr>
          <p:cNvPr id="6" name="bullet-1">
            <a:extLst>
              <a:ext uri="{FF2B5EF4-FFF2-40B4-BE49-F238E27FC236}">
                <a16:creationId xmlns:a16="http://schemas.microsoft.com/office/drawing/2014/main" id="{B50216F7-78C4-41FF-B627-216627DF4102}"/>
              </a:ext>
            </a:extLst>
          </p:cNvPr>
          <p:cNvSpPr>
            <a:spLocks noGrp="1"/>
          </p:cNvSpPr>
          <p:nvPr/>
        </p:nvSpPr>
        <p:spPr>
          <a:xfrm>
            <a:off x="1715191" y="2001507"/>
            <a:ext cx="86411" cy="64821"/>
          </a:xfrm>
          <a:prstGeom prst="rect">
            <a:avLst/>
          </a:prstGeom>
          <a:solidFill>
            <a:srgbClr val="B51F32"/>
          </a:solidFill>
          <a:ln w="0">
            <a:noFill/>
            <a:prstDash val="solid"/>
          </a:ln>
        </p:spPr>
      </p:sp>
      <p:sp>
        <p:nvSpPr>
          <p:cNvPr id="7" name="bullet-text-1">
            <a:extLst>
              <a:ext uri="{FF2B5EF4-FFF2-40B4-BE49-F238E27FC236}">
                <a16:creationId xmlns:a16="http://schemas.microsoft.com/office/drawing/2014/main" id="{E3448BEE-A7E0-4479-9680-18EB7688D041}"/>
              </a:ext>
            </a:extLst>
          </p:cNvPr>
          <p:cNvSpPr>
            <a:spLocks noGrp="1"/>
          </p:cNvSpPr>
          <p:nvPr/>
        </p:nvSpPr>
        <p:spPr>
          <a:xfrm>
            <a:off x="2019852" y="1782572"/>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Abstract and project introduction</a:t>
            </a:r>
          </a:p>
        </p:txBody>
      </p:sp>
      <p:sp>
        <p:nvSpPr>
          <p:cNvPr id="8" name="bullet-2">
            <a:extLst>
              <a:ext uri="{FF2B5EF4-FFF2-40B4-BE49-F238E27FC236}">
                <a16:creationId xmlns:a16="http://schemas.microsoft.com/office/drawing/2014/main" id="{61FE9D55-527D-4658-8332-2D90DA925AAB}"/>
              </a:ext>
            </a:extLst>
          </p:cNvPr>
          <p:cNvSpPr>
            <a:spLocks noGrp="1"/>
          </p:cNvSpPr>
          <p:nvPr/>
        </p:nvSpPr>
        <p:spPr>
          <a:xfrm flipV="1">
            <a:off x="1723899" y="2470562"/>
            <a:ext cx="86412" cy="64821"/>
          </a:xfrm>
          <a:prstGeom prst="rect">
            <a:avLst/>
          </a:prstGeom>
          <a:solidFill>
            <a:srgbClr val="B51F32"/>
          </a:solidFill>
          <a:ln w="0">
            <a:noFill/>
            <a:prstDash val="solid"/>
          </a:ln>
        </p:spPr>
      </p:sp>
      <p:sp>
        <p:nvSpPr>
          <p:cNvPr id="9" name="bullet-text-2">
            <a:extLst>
              <a:ext uri="{FF2B5EF4-FFF2-40B4-BE49-F238E27FC236}">
                <a16:creationId xmlns:a16="http://schemas.microsoft.com/office/drawing/2014/main" id="{AA2BA2E6-76B0-4B79-B9A9-58553362AD51}"/>
              </a:ext>
            </a:extLst>
          </p:cNvPr>
          <p:cNvSpPr>
            <a:spLocks noGrp="1"/>
          </p:cNvSpPr>
          <p:nvPr/>
        </p:nvSpPr>
        <p:spPr>
          <a:xfrm>
            <a:off x="2019852" y="2276831"/>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Project statement, objectives and literature survey</a:t>
            </a:r>
          </a:p>
        </p:txBody>
      </p:sp>
      <p:sp>
        <p:nvSpPr>
          <p:cNvPr id="10" name="bullet-3">
            <a:extLst>
              <a:ext uri="{FF2B5EF4-FFF2-40B4-BE49-F238E27FC236}">
                <a16:creationId xmlns:a16="http://schemas.microsoft.com/office/drawing/2014/main" id="{485D7BC6-CE7A-4BEF-97BC-6E266C218E36}"/>
              </a:ext>
            </a:extLst>
          </p:cNvPr>
          <p:cNvSpPr>
            <a:spLocks noGrp="1"/>
          </p:cNvSpPr>
          <p:nvPr/>
        </p:nvSpPr>
        <p:spPr>
          <a:xfrm>
            <a:off x="1723899" y="2995486"/>
            <a:ext cx="86411" cy="64821"/>
          </a:xfrm>
          <a:prstGeom prst="rect">
            <a:avLst/>
          </a:prstGeom>
          <a:solidFill>
            <a:srgbClr val="B51F32"/>
          </a:solidFill>
          <a:ln w="0">
            <a:noFill/>
            <a:prstDash val="solid"/>
          </a:ln>
        </p:spPr>
      </p:sp>
      <p:sp>
        <p:nvSpPr>
          <p:cNvPr id="11" name="bullet-text-3">
            <a:extLst>
              <a:ext uri="{FF2B5EF4-FFF2-40B4-BE49-F238E27FC236}">
                <a16:creationId xmlns:a16="http://schemas.microsoft.com/office/drawing/2014/main" id="{089833EA-8747-4356-A026-E2A3F65F5C84}"/>
              </a:ext>
            </a:extLst>
          </p:cNvPr>
          <p:cNvSpPr>
            <a:spLocks noGrp="1"/>
          </p:cNvSpPr>
          <p:nvPr/>
        </p:nvSpPr>
        <p:spPr>
          <a:xfrm>
            <a:off x="2019852" y="2771089"/>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Relevance and system design</a:t>
            </a:r>
          </a:p>
        </p:txBody>
      </p:sp>
      <p:sp>
        <p:nvSpPr>
          <p:cNvPr id="12" name="bullet-4">
            <a:extLst>
              <a:ext uri="{FF2B5EF4-FFF2-40B4-BE49-F238E27FC236}">
                <a16:creationId xmlns:a16="http://schemas.microsoft.com/office/drawing/2014/main" id="{0F0DAC1B-3FB5-4D54-9BD8-15A66849E3D5}"/>
              </a:ext>
            </a:extLst>
          </p:cNvPr>
          <p:cNvSpPr>
            <a:spLocks noGrp="1"/>
          </p:cNvSpPr>
          <p:nvPr/>
        </p:nvSpPr>
        <p:spPr>
          <a:xfrm>
            <a:off x="1753061" y="3491824"/>
            <a:ext cx="86410" cy="64821"/>
          </a:xfrm>
          <a:prstGeom prst="rect">
            <a:avLst/>
          </a:prstGeom>
          <a:solidFill>
            <a:srgbClr val="B51F32"/>
          </a:solidFill>
          <a:ln w="0">
            <a:noFill/>
            <a:prstDash val="solid"/>
          </a:ln>
        </p:spPr>
      </p:sp>
      <p:sp>
        <p:nvSpPr>
          <p:cNvPr id="13" name="bullet-text-4">
            <a:extLst>
              <a:ext uri="{FF2B5EF4-FFF2-40B4-BE49-F238E27FC236}">
                <a16:creationId xmlns:a16="http://schemas.microsoft.com/office/drawing/2014/main" id="{988BA527-B1C3-4342-AC3F-065F0CAACEDF}"/>
              </a:ext>
            </a:extLst>
          </p:cNvPr>
          <p:cNvSpPr>
            <a:spLocks noGrp="1"/>
          </p:cNvSpPr>
          <p:nvPr/>
        </p:nvSpPr>
        <p:spPr>
          <a:xfrm>
            <a:off x="2019852" y="3265348"/>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Block diagram, hardware/software and circuit</a:t>
            </a:r>
          </a:p>
        </p:txBody>
      </p:sp>
      <p:sp>
        <p:nvSpPr>
          <p:cNvPr id="14" name="bullet-5">
            <a:extLst>
              <a:ext uri="{FF2B5EF4-FFF2-40B4-BE49-F238E27FC236}">
                <a16:creationId xmlns:a16="http://schemas.microsoft.com/office/drawing/2014/main" id="{B2D11BAE-C1A5-4B15-9113-C4AFFCE1FF93}"/>
              </a:ext>
            </a:extLst>
          </p:cNvPr>
          <p:cNvSpPr>
            <a:spLocks noGrp="1"/>
          </p:cNvSpPr>
          <p:nvPr/>
        </p:nvSpPr>
        <p:spPr>
          <a:xfrm>
            <a:off x="1753061" y="3977255"/>
            <a:ext cx="86411" cy="64821"/>
          </a:xfrm>
          <a:prstGeom prst="rect">
            <a:avLst/>
          </a:prstGeom>
          <a:solidFill>
            <a:srgbClr val="B51F32"/>
          </a:solidFill>
          <a:ln w="0">
            <a:noFill/>
            <a:prstDash val="solid"/>
          </a:ln>
        </p:spPr>
      </p:sp>
      <p:sp>
        <p:nvSpPr>
          <p:cNvPr id="15" name="bullet-text-5">
            <a:extLst>
              <a:ext uri="{FF2B5EF4-FFF2-40B4-BE49-F238E27FC236}">
                <a16:creationId xmlns:a16="http://schemas.microsoft.com/office/drawing/2014/main" id="{AB48E76D-6776-4431-9E10-B33816721DC8}"/>
              </a:ext>
            </a:extLst>
          </p:cNvPr>
          <p:cNvSpPr>
            <a:spLocks noGrp="1"/>
          </p:cNvSpPr>
          <p:nvPr/>
        </p:nvSpPr>
        <p:spPr>
          <a:xfrm>
            <a:off x="2019852" y="3759606"/>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Implementation, results and discussion</a:t>
            </a:r>
          </a:p>
        </p:txBody>
      </p:sp>
      <p:sp>
        <p:nvSpPr>
          <p:cNvPr id="16" name="bullet-6">
            <a:extLst>
              <a:ext uri="{FF2B5EF4-FFF2-40B4-BE49-F238E27FC236}">
                <a16:creationId xmlns:a16="http://schemas.microsoft.com/office/drawing/2014/main" id="{A85443A1-15F9-454B-BE19-05FA06D7EA5B}"/>
              </a:ext>
            </a:extLst>
          </p:cNvPr>
          <p:cNvSpPr>
            <a:spLocks noGrp="1"/>
          </p:cNvSpPr>
          <p:nvPr/>
        </p:nvSpPr>
        <p:spPr>
          <a:xfrm>
            <a:off x="1767105" y="4480387"/>
            <a:ext cx="86411" cy="64821"/>
          </a:xfrm>
          <a:prstGeom prst="rect">
            <a:avLst/>
          </a:prstGeom>
          <a:solidFill>
            <a:srgbClr val="B51F32"/>
          </a:solidFill>
          <a:ln w="0">
            <a:noFill/>
            <a:prstDash val="solid"/>
          </a:ln>
        </p:spPr>
      </p:sp>
      <p:sp>
        <p:nvSpPr>
          <p:cNvPr id="17" name="bullet-text-6">
            <a:extLst>
              <a:ext uri="{FF2B5EF4-FFF2-40B4-BE49-F238E27FC236}">
                <a16:creationId xmlns:a16="http://schemas.microsoft.com/office/drawing/2014/main" id="{1842CD4A-BAF5-4BD3-9291-1545366AB871}"/>
              </a:ext>
            </a:extLst>
          </p:cNvPr>
          <p:cNvSpPr>
            <a:spLocks noGrp="1"/>
          </p:cNvSpPr>
          <p:nvPr/>
        </p:nvSpPr>
        <p:spPr>
          <a:xfrm>
            <a:off x="2019852" y="4253865"/>
            <a:ext cx="8295437" cy="461848"/>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Conclusion, future scope, applications and references</a:t>
            </a:r>
          </a:p>
        </p:txBody>
      </p:sp>
    </p:spTree>
    <p:extLst>
      <p:ext uri="{BB962C8B-B14F-4D97-AF65-F5344CB8AC3E}">
        <p14:creationId xmlns:p14="http://schemas.microsoft.com/office/powerpoint/2010/main" val="452235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C5BBAD91-23D9-4817-8DED-C26BCFE325B7}"/>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7F8E96BC-6A0C-4D86-9F6C-15D4DAAE613C}"/>
              </a:ext>
            </a:extLst>
          </p:cNvPr>
          <p:cNvSpPr>
            <a:spLocks noGrp="1"/>
          </p:cNvSpPr>
          <p:nvPr/>
        </p:nvSpPr>
        <p:spPr>
          <a:xfrm>
            <a:off x="2441105" y="1288313"/>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C3B3D3C1-870D-4D62-B84E-1758A876D328}"/>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Abstract</a:t>
            </a:r>
          </a:p>
        </p:txBody>
      </p:sp>
      <p:sp>
        <p:nvSpPr>
          <p:cNvPr id="5" name="page-number">
            <a:extLst>
              <a:ext uri="{FF2B5EF4-FFF2-40B4-BE49-F238E27FC236}">
                <a16:creationId xmlns:a16="http://schemas.microsoft.com/office/drawing/2014/main" id="{E880A0CC-5C1D-42CC-A8DF-74C84821ECC6}"/>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3</a:t>
            </a:r>
          </a:p>
        </p:txBody>
      </p:sp>
      <p:sp>
        <p:nvSpPr>
          <p:cNvPr id="6" name="abstract-p1">
            <a:extLst>
              <a:ext uri="{FF2B5EF4-FFF2-40B4-BE49-F238E27FC236}">
                <a16:creationId xmlns:a16="http://schemas.microsoft.com/office/drawing/2014/main" id="{2AEBA434-4A3F-492A-B917-6ABB4BA99051}"/>
              </a:ext>
            </a:extLst>
          </p:cNvPr>
          <p:cNvSpPr>
            <a:spLocks noGrp="1"/>
          </p:cNvSpPr>
          <p:nvPr/>
        </p:nvSpPr>
        <p:spPr>
          <a:xfrm>
            <a:off x="1782223" y="1782572"/>
            <a:ext cx="8533066" cy="842670"/>
          </a:xfrm>
          <a:prstGeom prst="rect">
            <a:avLst/>
          </a:prstGeom>
          <a:noFill/>
          <a:ln w="0">
            <a:noFill/>
            <a:prstDash val="solid"/>
          </a:ln>
        </p:spPr>
        <p:txBody>
          <a:bodyPr anchor="ctr">
            <a:normAutofit/>
          </a:bodyPr>
          <a:lstStyle/>
          <a:p>
            <a:pPr algn="l">
              <a:buNone/>
              <a:defRPr sz="1620" b="0">
                <a:solidFill>
                  <a:srgbClr val="202020"/>
                </a:solidFill>
                <a:latin typeface="Times New Roman"/>
                <a:ea typeface="Times New Roman"/>
                <a:cs typeface="Times New Roman"/>
              </a:defRPr>
            </a:pPr>
            <a:r>
              <a:rPr sz="1620" b="0">
                <a:solidFill>
                  <a:srgbClr val="202020"/>
                </a:solidFill>
                <a:latin typeface="Times New Roman"/>
                <a:ea typeface="Times New Roman"/>
                <a:cs typeface="Times New Roman"/>
              </a:rPr>
              <a:t>This project develops a two-way outdoor location-sharing system using smartphone GPS, an Android application, Bluetooth Low Energy, ESP32 boards and SX1278 LoRa transceivers.</a:t>
            </a:r>
          </a:p>
        </p:txBody>
      </p:sp>
      <p:sp>
        <p:nvSpPr>
          <p:cNvPr id="7" name="abstract-p2">
            <a:extLst>
              <a:ext uri="{FF2B5EF4-FFF2-40B4-BE49-F238E27FC236}">
                <a16:creationId xmlns:a16="http://schemas.microsoft.com/office/drawing/2014/main" id="{E0CF35D2-88DB-423B-BE56-D177AA1D93FD}"/>
              </a:ext>
            </a:extLst>
          </p:cNvPr>
          <p:cNvSpPr>
            <a:spLocks noGrp="1"/>
          </p:cNvSpPr>
          <p:nvPr/>
        </p:nvSpPr>
        <p:spPr>
          <a:xfrm>
            <a:off x="1782223" y="2795397"/>
            <a:ext cx="8533066" cy="101282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The phone sends its coordinates to the nearby ESP32 over BLE. LoRa carries the location packet to the second node, which forwards it to the other phone. The core device-to-device path operates without cellular data or internet.</a:t>
            </a:r>
          </a:p>
        </p:txBody>
      </p:sp>
    </p:spTree>
    <p:extLst>
      <p:ext uri="{BB962C8B-B14F-4D97-AF65-F5344CB8AC3E}">
        <p14:creationId xmlns:p14="http://schemas.microsoft.com/office/powerpoint/2010/main" val="1922955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35CF79FD-C6A6-4A19-8964-23116CF084A0}"/>
              </a:ext>
            </a:extLst>
          </p:cNvPr>
          <p:cNvSpPr>
            <a:spLocks noGrp="1"/>
          </p:cNvSpPr>
          <p:nvPr/>
        </p:nvSpPr>
        <p:spPr>
          <a:xfrm>
            <a:off x="1292453" y="1053338"/>
            <a:ext cx="9505188" cy="5023612"/>
          </a:xfrm>
          <a:prstGeom prst="rect">
            <a:avLst/>
          </a:prstGeom>
          <a:solidFill>
            <a:srgbClr val="FFFFFF"/>
          </a:solidFill>
          <a:ln w="0">
            <a:noFill/>
            <a:prstDash val="solid"/>
          </a:ln>
        </p:spPr>
        <p:txBody>
          <a:bodyPr/>
          <a:lstStyle/>
          <a:p>
            <a:endParaRPr lang="en-IN" dirty="0"/>
          </a:p>
        </p:txBody>
      </p:sp>
      <p:sp>
        <p:nvSpPr>
          <p:cNvPr id="3" name="section-marker">
            <a:extLst>
              <a:ext uri="{FF2B5EF4-FFF2-40B4-BE49-F238E27FC236}">
                <a16:creationId xmlns:a16="http://schemas.microsoft.com/office/drawing/2014/main" id="{B7D866F8-FB9F-47F6-B30E-083C943BB566}"/>
              </a:ext>
            </a:extLst>
          </p:cNvPr>
          <p:cNvSpPr>
            <a:spLocks noGrp="1"/>
          </p:cNvSpPr>
          <p:nvPr/>
        </p:nvSpPr>
        <p:spPr>
          <a:xfrm>
            <a:off x="2388854" y="1270722"/>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E64F511F-E3D1-429E-B7F0-987B6A627061}"/>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Introduction</a:t>
            </a:r>
          </a:p>
        </p:txBody>
      </p:sp>
      <p:sp>
        <p:nvSpPr>
          <p:cNvPr id="5" name="page-number">
            <a:extLst>
              <a:ext uri="{FF2B5EF4-FFF2-40B4-BE49-F238E27FC236}">
                <a16:creationId xmlns:a16="http://schemas.microsoft.com/office/drawing/2014/main" id="{E8D4E4CE-28B6-439F-A9F2-D60BE8B8363C}"/>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4</a:t>
            </a:r>
          </a:p>
        </p:txBody>
      </p:sp>
      <p:sp>
        <p:nvSpPr>
          <p:cNvPr id="6" name="bullet-1">
            <a:extLst>
              <a:ext uri="{FF2B5EF4-FFF2-40B4-BE49-F238E27FC236}">
                <a16:creationId xmlns:a16="http://schemas.microsoft.com/office/drawing/2014/main" id="{5481681F-A557-43B9-AC11-8DBEEA529B9D}"/>
              </a:ext>
            </a:extLst>
          </p:cNvPr>
          <p:cNvSpPr>
            <a:spLocks noGrp="1"/>
          </p:cNvSpPr>
          <p:nvPr/>
        </p:nvSpPr>
        <p:spPr>
          <a:xfrm>
            <a:off x="1796268" y="2049957"/>
            <a:ext cx="86411" cy="64821"/>
          </a:xfrm>
          <a:prstGeom prst="rect">
            <a:avLst/>
          </a:prstGeom>
          <a:solidFill>
            <a:srgbClr val="B51F32"/>
          </a:solidFill>
          <a:ln w="0">
            <a:noFill/>
            <a:prstDash val="solid"/>
          </a:ln>
        </p:spPr>
      </p:sp>
      <p:sp>
        <p:nvSpPr>
          <p:cNvPr id="7" name="bullet-text-1">
            <a:extLst>
              <a:ext uri="{FF2B5EF4-FFF2-40B4-BE49-F238E27FC236}">
                <a16:creationId xmlns:a16="http://schemas.microsoft.com/office/drawing/2014/main" id="{E0D88296-667A-4354-97D3-ED882318A441}"/>
              </a:ext>
            </a:extLst>
          </p:cNvPr>
          <p:cNvSpPr>
            <a:spLocks noGrp="1"/>
          </p:cNvSpPr>
          <p:nvPr/>
        </p:nvSpPr>
        <p:spPr>
          <a:xfrm>
            <a:off x="2019852" y="1782572"/>
            <a:ext cx="8295437" cy="599592"/>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Outdoor groups may need to share their positions where mobile coverage is weak or unavailable.</a:t>
            </a:r>
          </a:p>
        </p:txBody>
      </p:sp>
      <p:sp>
        <p:nvSpPr>
          <p:cNvPr id="8" name="bullet-2">
            <a:extLst>
              <a:ext uri="{FF2B5EF4-FFF2-40B4-BE49-F238E27FC236}">
                <a16:creationId xmlns:a16="http://schemas.microsoft.com/office/drawing/2014/main" id="{B29C41D4-4626-4442-8C63-9272F6BBBC7E}"/>
              </a:ext>
            </a:extLst>
          </p:cNvPr>
          <p:cNvSpPr>
            <a:spLocks noGrp="1"/>
          </p:cNvSpPr>
          <p:nvPr/>
        </p:nvSpPr>
        <p:spPr>
          <a:xfrm>
            <a:off x="1782223" y="2602247"/>
            <a:ext cx="86411" cy="64821"/>
          </a:xfrm>
          <a:prstGeom prst="rect">
            <a:avLst/>
          </a:prstGeom>
          <a:solidFill>
            <a:srgbClr val="B51F32"/>
          </a:solidFill>
          <a:ln w="0">
            <a:noFill/>
            <a:prstDash val="solid"/>
          </a:ln>
        </p:spPr>
      </p:sp>
      <p:sp>
        <p:nvSpPr>
          <p:cNvPr id="9" name="bullet-text-2">
            <a:extLst>
              <a:ext uri="{FF2B5EF4-FFF2-40B4-BE49-F238E27FC236}">
                <a16:creationId xmlns:a16="http://schemas.microsoft.com/office/drawing/2014/main" id="{5A75D2F2-8520-4A64-9772-CE68CCF54397}"/>
              </a:ext>
            </a:extLst>
          </p:cNvPr>
          <p:cNvSpPr>
            <a:spLocks noGrp="1"/>
          </p:cNvSpPr>
          <p:nvPr/>
        </p:nvSpPr>
        <p:spPr>
          <a:xfrm>
            <a:off x="2019852" y="2414575"/>
            <a:ext cx="8295437" cy="599592"/>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Smartphone GPS provides coordinates, while the custom app presents each user’s location and communication status.</a:t>
            </a:r>
          </a:p>
        </p:txBody>
      </p:sp>
      <p:sp>
        <p:nvSpPr>
          <p:cNvPr id="10" name="bullet-3">
            <a:extLst>
              <a:ext uri="{FF2B5EF4-FFF2-40B4-BE49-F238E27FC236}">
                <a16:creationId xmlns:a16="http://schemas.microsoft.com/office/drawing/2014/main" id="{DD0D5C4C-8A55-418D-B694-4BDB4D7F1C3F}"/>
              </a:ext>
            </a:extLst>
          </p:cNvPr>
          <p:cNvSpPr>
            <a:spLocks noGrp="1"/>
          </p:cNvSpPr>
          <p:nvPr/>
        </p:nvSpPr>
        <p:spPr>
          <a:xfrm>
            <a:off x="1801605" y="3313963"/>
            <a:ext cx="86411" cy="64821"/>
          </a:xfrm>
          <a:prstGeom prst="rect">
            <a:avLst/>
          </a:prstGeom>
          <a:solidFill>
            <a:srgbClr val="B51F32"/>
          </a:solidFill>
          <a:ln w="0">
            <a:noFill/>
            <a:prstDash val="solid"/>
          </a:ln>
        </p:spPr>
      </p:sp>
      <p:sp>
        <p:nvSpPr>
          <p:cNvPr id="11" name="bullet-text-3">
            <a:extLst>
              <a:ext uri="{FF2B5EF4-FFF2-40B4-BE49-F238E27FC236}">
                <a16:creationId xmlns:a16="http://schemas.microsoft.com/office/drawing/2014/main" id="{FA086A2D-2624-415A-921F-27F6FC54C639}"/>
              </a:ext>
            </a:extLst>
          </p:cNvPr>
          <p:cNvSpPr>
            <a:spLocks noGrp="1"/>
          </p:cNvSpPr>
          <p:nvPr/>
        </p:nvSpPr>
        <p:spPr>
          <a:xfrm>
            <a:off x="2019852" y="3046578"/>
            <a:ext cx="8295437" cy="599592"/>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BLE links each phone to its ESP32 node. LoRa transfers location packets between the two nodes.</a:t>
            </a:r>
          </a:p>
        </p:txBody>
      </p:sp>
      <p:sp>
        <p:nvSpPr>
          <p:cNvPr id="12" name="bullet-4">
            <a:extLst>
              <a:ext uri="{FF2B5EF4-FFF2-40B4-BE49-F238E27FC236}">
                <a16:creationId xmlns:a16="http://schemas.microsoft.com/office/drawing/2014/main" id="{0012A438-7A0C-4D0A-ABA4-F177F4BB8881}"/>
              </a:ext>
            </a:extLst>
          </p:cNvPr>
          <p:cNvSpPr>
            <a:spLocks noGrp="1"/>
          </p:cNvSpPr>
          <p:nvPr/>
        </p:nvSpPr>
        <p:spPr>
          <a:xfrm>
            <a:off x="1782223" y="3948771"/>
            <a:ext cx="86411" cy="64821"/>
          </a:xfrm>
          <a:prstGeom prst="rect">
            <a:avLst/>
          </a:prstGeom>
          <a:solidFill>
            <a:srgbClr val="B51F32"/>
          </a:solidFill>
          <a:ln w="0">
            <a:noFill/>
            <a:prstDash val="solid"/>
          </a:ln>
        </p:spPr>
      </p:sp>
      <p:sp>
        <p:nvSpPr>
          <p:cNvPr id="13" name="bullet-text-4">
            <a:extLst>
              <a:ext uri="{FF2B5EF4-FFF2-40B4-BE49-F238E27FC236}">
                <a16:creationId xmlns:a16="http://schemas.microsoft.com/office/drawing/2014/main" id="{F42DAC1C-DE63-4DE5-B2E2-4CC7125DB86B}"/>
              </a:ext>
            </a:extLst>
          </p:cNvPr>
          <p:cNvSpPr>
            <a:spLocks noGrp="1"/>
          </p:cNvSpPr>
          <p:nvPr/>
        </p:nvSpPr>
        <p:spPr>
          <a:xfrm>
            <a:off x="2019852" y="3678580"/>
            <a:ext cx="8295437" cy="599592"/>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The design supports users such as trekkers, field teams and remote-area groups.</a:t>
            </a:r>
          </a:p>
        </p:txBody>
      </p:sp>
    </p:spTree>
    <p:extLst>
      <p:ext uri="{BB962C8B-B14F-4D97-AF65-F5344CB8AC3E}">
        <p14:creationId xmlns:p14="http://schemas.microsoft.com/office/powerpoint/2010/main" val="1782601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8365F235-B5B3-4608-87FA-CE53F77AA314}"/>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98247E50-DEAC-4B38-B8AE-907E1593EE1A}"/>
              </a:ext>
            </a:extLst>
          </p:cNvPr>
          <p:cNvSpPr>
            <a:spLocks noGrp="1"/>
          </p:cNvSpPr>
          <p:nvPr/>
        </p:nvSpPr>
        <p:spPr>
          <a:xfrm>
            <a:off x="2441105" y="1280211"/>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64F7CDD0-4DEA-4A3D-9ADE-B82A53CF560D}"/>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Proposed Project / Model / Idea Statement</a:t>
            </a:r>
          </a:p>
        </p:txBody>
      </p:sp>
      <p:sp>
        <p:nvSpPr>
          <p:cNvPr id="5" name="page-number">
            <a:extLst>
              <a:ext uri="{FF2B5EF4-FFF2-40B4-BE49-F238E27FC236}">
                <a16:creationId xmlns:a16="http://schemas.microsoft.com/office/drawing/2014/main" id="{7039D29D-2BD3-48AE-B627-845A1E7305ED}"/>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5</a:t>
            </a:r>
          </a:p>
        </p:txBody>
      </p:sp>
      <p:sp>
        <p:nvSpPr>
          <p:cNvPr id="6" name="statement">
            <a:extLst>
              <a:ext uri="{FF2B5EF4-FFF2-40B4-BE49-F238E27FC236}">
                <a16:creationId xmlns:a16="http://schemas.microsoft.com/office/drawing/2014/main" id="{D8E167EB-6828-45C0-B93F-A50051B442B8}"/>
              </a:ext>
            </a:extLst>
          </p:cNvPr>
          <p:cNvSpPr>
            <a:spLocks noGrp="1"/>
          </p:cNvSpPr>
          <p:nvPr/>
        </p:nvSpPr>
        <p:spPr>
          <a:xfrm>
            <a:off x="1782223" y="1847393"/>
            <a:ext cx="8533066" cy="1215390"/>
          </a:xfrm>
          <a:prstGeom prst="rect">
            <a:avLst/>
          </a:prstGeom>
          <a:noFill/>
          <a:ln w="0">
            <a:noFill/>
            <a:prstDash val="solid"/>
          </a:ln>
        </p:spPr>
        <p:txBody>
          <a:bodyPr anchor="ctr">
            <a:normAutofit/>
          </a:bodyPr>
          <a:lstStyle/>
          <a:p>
            <a:pPr algn="l">
              <a:buNone/>
              <a:defRPr sz="1823" b="1">
                <a:solidFill>
                  <a:srgbClr val="25466C"/>
                </a:solidFill>
                <a:latin typeface="Times New Roman"/>
                <a:ea typeface="Times New Roman"/>
                <a:cs typeface="Times New Roman"/>
              </a:defRPr>
            </a:pPr>
            <a:r>
              <a:rPr sz="1823" b="1">
                <a:solidFill>
                  <a:srgbClr val="25466C"/>
                </a:solidFill>
                <a:latin typeface="Times New Roman"/>
                <a:ea typeface="Times New Roman"/>
                <a:cs typeface="Times New Roman"/>
              </a:rPr>
              <a:t>A portable, two-user tracking and communication prototype that relays smartphone location data between two ESP32 devices over a direct LoRa radio link, then displays received information in a paired Android application.</a:t>
            </a:r>
          </a:p>
        </p:txBody>
      </p:sp>
      <p:sp>
        <p:nvSpPr>
          <p:cNvPr id="7" name="statement-detail">
            <a:extLst>
              <a:ext uri="{FF2B5EF4-FFF2-40B4-BE49-F238E27FC236}">
                <a16:creationId xmlns:a16="http://schemas.microsoft.com/office/drawing/2014/main" id="{F8452051-46F4-4F9F-BC1D-EE33FD5FFA9A}"/>
              </a:ext>
            </a:extLst>
          </p:cNvPr>
          <p:cNvSpPr>
            <a:spLocks noGrp="1"/>
          </p:cNvSpPr>
          <p:nvPr/>
        </p:nvSpPr>
        <p:spPr>
          <a:xfrm>
            <a:off x="1782223" y="3362579"/>
            <a:ext cx="8533066" cy="1174877"/>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Each side uses the same node design. The phones provide GPS coordinates and a user interface; BLE carries data locally between phone and ESP32; SX1278 LoRa modules carry packets between users. The LoRa link does not require a cellular network or internet connection.</a:t>
            </a:r>
          </a:p>
        </p:txBody>
      </p:sp>
    </p:spTree>
    <p:extLst>
      <p:ext uri="{BB962C8B-B14F-4D97-AF65-F5344CB8AC3E}">
        <p14:creationId xmlns:p14="http://schemas.microsoft.com/office/powerpoint/2010/main" val="706232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6BDB8830-A082-482E-902D-8F7557E6B149}"/>
              </a:ext>
            </a:extLst>
          </p:cNvPr>
          <p:cNvSpPr>
            <a:spLocks noGrp="1"/>
          </p:cNvSpPr>
          <p:nvPr/>
        </p:nvSpPr>
        <p:spPr>
          <a:xfrm>
            <a:off x="1289418" y="1078955"/>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1D51F3B7-814B-498E-97CF-51E98EB98099}"/>
              </a:ext>
            </a:extLst>
          </p:cNvPr>
          <p:cNvSpPr>
            <a:spLocks noGrp="1"/>
          </p:cNvSpPr>
          <p:nvPr/>
        </p:nvSpPr>
        <p:spPr>
          <a:xfrm>
            <a:off x="2345924" y="1288313"/>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504F5530-B7E9-49EA-B419-8C28A850EBAF}"/>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Objectives</a:t>
            </a:r>
          </a:p>
        </p:txBody>
      </p:sp>
      <p:sp>
        <p:nvSpPr>
          <p:cNvPr id="5" name="page-number">
            <a:extLst>
              <a:ext uri="{FF2B5EF4-FFF2-40B4-BE49-F238E27FC236}">
                <a16:creationId xmlns:a16="http://schemas.microsoft.com/office/drawing/2014/main" id="{B35C86C1-770C-4727-83FF-A2B2563EBE8B}"/>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6</a:t>
            </a:r>
          </a:p>
        </p:txBody>
      </p:sp>
      <p:sp>
        <p:nvSpPr>
          <p:cNvPr id="6" name="bullet-1">
            <a:extLst>
              <a:ext uri="{FF2B5EF4-FFF2-40B4-BE49-F238E27FC236}">
                <a16:creationId xmlns:a16="http://schemas.microsoft.com/office/drawing/2014/main" id="{A72C1188-E162-4C9E-B458-F1DA15E5C584}"/>
              </a:ext>
            </a:extLst>
          </p:cNvPr>
          <p:cNvSpPr>
            <a:spLocks noGrp="1"/>
          </p:cNvSpPr>
          <p:nvPr/>
        </p:nvSpPr>
        <p:spPr>
          <a:xfrm>
            <a:off x="1825647" y="2082873"/>
            <a:ext cx="86411" cy="64821"/>
          </a:xfrm>
          <a:prstGeom prst="rect">
            <a:avLst/>
          </a:prstGeom>
          <a:solidFill>
            <a:srgbClr val="B51F32"/>
          </a:solidFill>
          <a:ln w="0">
            <a:noFill/>
            <a:prstDash val="solid"/>
          </a:ln>
        </p:spPr>
      </p:sp>
      <p:sp>
        <p:nvSpPr>
          <p:cNvPr id="7" name="bullet-text-1">
            <a:extLst>
              <a:ext uri="{FF2B5EF4-FFF2-40B4-BE49-F238E27FC236}">
                <a16:creationId xmlns:a16="http://schemas.microsoft.com/office/drawing/2014/main" id="{2D47DF2C-3EDB-462F-828D-8D97D305108F}"/>
              </a:ext>
            </a:extLst>
          </p:cNvPr>
          <p:cNvSpPr>
            <a:spLocks noGrp="1"/>
          </p:cNvSpPr>
          <p:nvPr/>
        </p:nvSpPr>
        <p:spPr>
          <a:xfrm>
            <a:off x="2019852" y="1782572"/>
            <a:ext cx="8295437" cy="60769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Share live smartphone GPS coordinates between two users.</a:t>
            </a:r>
          </a:p>
        </p:txBody>
      </p:sp>
      <p:sp>
        <p:nvSpPr>
          <p:cNvPr id="8" name="bullet-2">
            <a:extLst>
              <a:ext uri="{FF2B5EF4-FFF2-40B4-BE49-F238E27FC236}">
                <a16:creationId xmlns:a16="http://schemas.microsoft.com/office/drawing/2014/main" id="{A07669DE-44F2-43BF-8CAD-3856701FA9FB}"/>
              </a:ext>
            </a:extLst>
          </p:cNvPr>
          <p:cNvSpPr>
            <a:spLocks noGrp="1"/>
          </p:cNvSpPr>
          <p:nvPr/>
        </p:nvSpPr>
        <p:spPr>
          <a:xfrm>
            <a:off x="1815312" y="2671737"/>
            <a:ext cx="86411" cy="64821"/>
          </a:xfrm>
          <a:prstGeom prst="rect">
            <a:avLst/>
          </a:prstGeom>
          <a:solidFill>
            <a:srgbClr val="B51F32"/>
          </a:solidFill>
          <a:ln w="0">
            <a:noFill/>
            <a:prstDash val="solid"/>
          </a:ln>
        </p:spPr>
      </p:sp>
      <p:sp>
        <p:nvSpPr>
          <p:cNvPr id="9" name="bullet-text-2">
            <a:extLst>
              <a:ext uri="{FF2B5EF4-FFF2-40B4-BE49-F238E27FC236}">
                <a16:creationId xmlns:a16="http://schemas.microsoft.com/office/drawing/2014/main" id="{AD1294B7-726D-46E5-87CD-E4A9FF8D2FCB}"/>
              </a:ext>
            </a:extLst>
          </p:cNvPr>
          <p:cNvSpPr>
            <a:spLocks noGrp="1"/>
          </p:cNvSpPr>
          <p:nvPr/>
        </p:nvSpPr>
        <p:spPr>
          <a:xfrm>
            <a:off x="2019852" y="2422677"/>
            <a:ext cx="8295437" cy="60769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Connect the Android application to each ESP32 node over BLE.</a:t>
            </a:r>
          </a:p>
        </p:txBody>
      </p:sp>
      <p:sp>
        <p:nvSpPr>
          <p:cNvPr id="10" name="bullet-3">
            <a:extLst>
              <a:ext uri="{FF2B5EF4-FFF2-40B4-BE49-F238E27FC236}">
                <a16:creationId xmlns:a16="http://schemas.microsoft.com/office/drawing/2014/main" id="{0B35C54F-670A-4F3A-A6AE-08A9F6DFE31C}"/>
              </a:ext>
            </a:extLst>
          </p:cNvPr>
          <p:cNvSpPr>
            <a:spLocks noGrp="1"/>
          </p:cNvSpPr>
          <p:nvPr/>
        </p:nvSpPr>
        <p:spPr>
          <a:xfrm>
            <a:off x="1815312" y="3320639"/>
            <a:ext cx="86411" cy="64821"/>
          </a:xfrm>
          <a:prstGeom prst="rect">
            <a:avLst/>
          </a:prstGeom>
          <a:solidFill>
            <a:srgbClr val="B51F32"/>
          </a:solidFill>
          <a:ln w="0">
            <a:noFill/>
            <a:prstDash val="solid"/>
          </a:ln>
        </p:spPr>
      </p:sp>
      <p:sp>
        <p:nvSpPr>
          <p:cNvPr id="11" name="bullet-text-3">
            <a:extLst>
              <a:ext uri="{FF2B5EF4-FFF2-40B4-BE49-F238E27FC236}">
                <a16:creationId xmlns:a16="http://schemas.microsoft.com/office/drawing/2014/main" id="{4F508D2C-4F22-44D3-96A4-5A17B245F77E}"/>
              </a:ext>
            </a:extLst>
          </p:cNvPr>
          <p:cNvSpPr>
            <a:spLocks noGrp="1"/>
          </p:cNvSpPr>
          <p:nvPr/>
        </p:nvSpPr>
        <p:spPr>
          <a:xfrm>
            <a:off x="2019852" y="3062783"/>
            <a:ext cx="8295437" cy="60769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Transmit and receive location packets through SX1278 LoRa modules.</a:t>
            </a:r>
          </a:p>
        </p:txBody>
      </p:sp>
      <p:sp>
        <p:nvSpPr>
          <p:cNvPr id="12" name="bullet-4">
            <a:extLst>
              <a:ext uri="{FF2B5EF4-FFF2-40B4-BE49-F238E27FC236}">
                <a16:creationId xmlns:a16="http://schemas.microsoft.com/office/drawing/2014/main" id="{A8453E7F-97AE-4991-BF1D-8AF0449DA880}"/>
              </a:ext>
            </a:extLst>
          </p:cNvPr>
          <p:cNvSpPr>
            <a:spLocks noGrp="1"/>
          </p:cNvSpPr>
          <p:nvPr/>
        </p:nvSpPr>
        <p:spPr>
          <a:xfrm>
            <a:off x="1782442" y="3974324"/>
            <a:ext cx="86411" cy="64821"/>
          </a:xfrm>
          <a:prstGeom prst="rect">
            <a:avLst/>
          </a:prstGeom>
          <a:solidFill>
            <a:srgbClr val="B51F32"/>
          </a:solidFill>
          <a:ln w="0">
            <a:noFill/>
            <a:prstDash val="solid"/>
          </a:ln>
        </p:spPr>
      </p:sp>
      <p:sp>
        <p:nvSpPr>
          <p:cNvPr id="13" name="bullet-text-4">
            <a:extLst>
              <a:ext uri="{FF2B5EF4-FFF2-40B4-BE49-F238E27FC236}">
                <a16:creationId xmlns:a16="http://schemas.microsoft.com/office/drawing/2014/main" id="{5FA76B1D-2893-4B7E-A783-7F8412608F66}"/>
              </a:ext>
            </a:extLst>
          </p:cNvPr>
          <p:cNvSpPr>
            <a:spLocks noGrp="1"/>
          </p:cNvSpPr>
          <p:nvPr/>
        </p:nvSpPr>
        <p:spPr>
          <a:xfrm>
            <a:off x="2019852" y="3702888"/>
            <a:ext cx="8295437" cy="60769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Display the other user’s received location in the application.</a:t>
            </a:r>
          </a:p>
        </p:txBody>
      </p:sp>
      <p:sp>
        <p:nvSpPr>
          <p:cNvPr id="14" name="bullet-5">
            <a:extLst>
              <a:ext uri="{FF2B5EF4-FFF2-40B4-BE49-F238E27FC236}">
                <a16:creationId xmlns:a16="http://schemas.microsoft.com/office/drawing/2014/main" id="{FAA50644-251E-44E5-9951-741270707C39}"/>
              </a:ext>
            </a:extLst>
          </p:cNvPr>
          <p:cNvSpPr>
            <a:spLocks noGrp="1"/>
          </p:cNvSpPr>
          <p:nvPr/>
        </p:nvSpPr>
        <p:spPr>
          <a:xfrm>
            <a:off x="1772107" y="4623226"/>
            <a:ext cx="86411" cy="64821"/>
          </a:xfrm>
          <a:prstGeom prst="rect">
            <a:avLst/>
          </a:prstGeom>
          <a:solidFill>
            <a:srgbClr val="B51F32"/>
          </a:solidFill>
          <a:ln w="0">
            <a:noFill/>
            <a:prstDash val="solid"/>
          </a:ln>
        </p:spPr>
      </p:sp>
      <p:sp>
        <p:nvSpPr>
          <p:cNvPr id="15" name="bullet-text-5">
            <a:extLst>
              <a:ext uri="{FF2B5EF4-FFF2-40B4-BE49-F238E27FC236}">
                <a16:creationId xmlns:a16="http://schemas.microsoft.com/office/drawing/2014/main" id="{33064095-542D-4060-8416-167C77A2AA5C}"/>
              </a:ext>
            </a:extLst>
          </p:cNvPr>
          <p:cNvSpPr>
            <a:spLocks noGrp="1"/>
          </p:cNvSpPr>
          <p:nvPr/>
        </p:nvSpPr>
        <p:spPr>
          <a:xfrm>
            <a:off x="2019852" y="4342994"/>
            <a:ext cx="8295437" cy="607695"/>
          </a:xfrm>
          <a:prstGeom prst="rect">
            <a:avLst/>
          </a:prstGeom>
          <a:noFill/>
          <a:ln w="0">
            <a:noFill/>
            <a:prstDash val="solid"/>
          </a:ln>
        </p:spPr>
        <p:txBody>
          <a:bodyPr anchor="ctr">
            <a:normAutofit/>
          </a:bodyPr>
          <a:lstStyle/>
          <a:p>
            <a:pPr algn="l">
              <a:buNone/>
              <a:defRPr sz="1552" b="0">
                <a:solidFill>
                  <a:srgbClr val="202020"/>
                </a:solidFill>
                <a:latin typeface="Times New Roman"/>
                <a:ea typeface="Times New Roman"/>
                <a:cs typeface="Times New Roman"/>
              </a:defRPr>
            </a:pPr>
            <a:r>
              <a:rPr sz="1552" b="0">
                <a:solidFill>
                  <a:srgbClr val="202020"/>
                </a:solidFill>
                <a:latin typeface="Times New Roman"/>
                <a:ea typeface="Times New Roman"/>
                <a:cs typeface="Times New Roman"/>
              </a:rPr>
              <a:t>Assess packet reception and signal quality using RSSI and SNR readings.</a:t>
            </a:r>
          </a:p>
        </p:txBody>
      </p:sp>
    </p:spTree>
    <p:extLst>
      <p:ext uri="{BB962C8B-B14F-4D97-AF65-F5344CB8AC3E}">
        <p14:creationId xmlns:p14="http://schemas.microsoft.com/office/powerpoint/2010/main" val="1405634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18F725A5-067F-4576-806A-697F83B9B4C3}"/>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AB76DB3C-8607-42EE-992D-EAEBC2A23C75}"/>
              </a:ext>
            </a:extLst>
          </p:cNvPr>
          <p:cNvSpPr>
            <a:spLocks noGrp="1"/>
          </p:cNvSpPr>
          <p:nvPr/>
        </p:nvSpPr>
        <p:spPr>
          <a:xfrm>
            <a:off x="2441105" y="1247800"/>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22445961-0F38-46FB-9A0A-3F71FA4FECDC}"/>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Literature Survey</a:t>
            </a:r>
          </a:p>
        </p:txBody>
      </p:sp>
      <p:sp>
        <p:nvSpPr>
          <p:cNvPr id="5" name="page-number">
            <a:extLst>
              <a:ext uri="{FF2B5EF4-FFF2-40B4-BE49-F238E27FC236}">
                <a16:creationId xmlns:a16="http://schemas.microsoft.com/office/drawing/2014/main" id="{3B939223-E7FD-4C30-9F81-9119592849BD}"/>
              </a:ext>
            </a:extLst>
          </p:cNvPr>
          <p:cNvSpPr>
            <a:spLocks noGrp="1"/>
          </p:cNvSpPr>
          <p:nvPr/>
        </p:nvSpPr>
        <p:spPr>
          <a:xfrm>
            <a:off x="10261283" y="5752846"/>
            <a:ext cx="324040" cy="162052"/>
          </a:xfrm>
          <a:prstGeom prst="rect">
            <a:avLst/>
          </a:prstGeom>
          <a:noFill/>
          <a:ln w="0">
            <a:noFill/>
            <a:prstDash val="solid"/>
          </a:ln>
        </p:spPr>
        <p:txBody>
          <a:bodyPr anchor="ctr">
            <a:normAutofit fontScale="677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7</a:t>
            </a:r>
          </a:p>
        </p:txBody>
      </p:sp>
      <p:sp>
        <p:nvSpPr>
          <p:cNvPr id="6" name="lit-head">
            <a:extLst>
              <a:ext uri="{FF2B5EF4-FFF2-40B4-BE49-F238E27FC236}">
                <a16:creationId xmlns:a16="http://schemas.microsoft.com/office/drawing/2014/main" id="{79734F61-8813-4E45-BD77-285F220567EE}"/>
              </a:ext>
            </a:extLst>
          </p:cNvPr>
          <p:cNvSpPr>
            <a:spLocks noGrp="1"/>
          </p:cNvSpPr>
          <p:nvPr/>
        </p:nvSpPr>
        <p:spPr>
          <a:xfrm>
            <a:off x="1836229" y="1701546"/>
            <a:ext cx="2808351" cy="275488"/>
          </a:xfrm>
          <a:prstGeom prst="rect">
            <a:avLst/>
          </a:prstGeom>
          <a:noFill/>
          <a:ln w="0">
            <a:noFill/>
            <a:prstDash val="solid"/>
          </a:ln>
        </p:spPr>
        <p:txBody>
          <a:bodyPr anchor="ctr">
            <a:normAutofit fontScale="96957" lnSpcReduction="10000"/>
          </a:bodyPr>
          <a:lstStyle/>
          <a:p>
            <a:pPr algn="l">
              <a:buNone/>
              <a:defRPr sz="1350" b="1">
                <a:solidFill>
                  <a:srgbClr val="B51F32"/>
                </a:solidFill>
                <a:latin typeface="Times New Roman"/>
                <a:ea typeface="Times New Roman"/>
                <a:cs typeface="Times New Roman"/>
              </a:defRPr>
            </a:pPr>
            <a:r>
              <a:rPr sz="1350" b="1">
                <a:solidFill>
                  <a:srgbClr val="B51F32"/>
                </a:solidFill>
                <a:latin typeface="Times New Roman"/>
                <a:ea typeface="Times New Roman"/>
                <a:cs typeface="Times New Roman"/>
              </a:rPr>
              <a:t>Study and focus</a:t>
            </a:r>
          </a:p>
        </p:txBody>
      </p:sp>
      <p:sp>
        <p:nvSpPr>
          <p:cNvPr id="7" name="lit-head2">
            <a:extLst>
              <a:ext uri="{FF2B5EF4-FFF2-40B4-BE49-F238E27FC236}">
                <a16:creationId xmlns:a16="http://schemas.microsoft.com/office/drawing/2014/main" id="{E78D2527-4BE7-4419-BF07-1B3BEA1BF3E1}"/>
              </a:ext>
            </a:extLst>
          </p:cNvPr>
          <p:cNvSpPr>
            <a:spLocks noGrp="1"/>
          </p:cNvSpPr>
          <p:nvPr/>
        </p:nvSpPr>
        <p:spPr>
          <a:xfrm>
            <a:off x="5400675" y="1701546"/>
            <a:ext cx="4536567" cy="275488"/>
          </a:xfrm>
          <a:prstGeom prst="rect">
            <a:avLst/>
          </a:prstGeom>
          <a:noFill/>
          <a:ln w="0">
            <a:noFill/>
            <a:prstDash val="solid"/>
          </a:ln>
        </p:spPr>
        <p:txBody>
          <a:bodyPr anchor="ctr">
            <a:normAutofit fontScale="96957" lnSpcReduction="10000"/>
          </a:bodyPr>
          <a:lstStyle/>
          <a:p>
            <a:pPr algn="l">
              <a:buNone/>
              <a:defRPr sz="1350" b="1">
                <a:solidFill>
                  <a:srgbClr val="B51F32"/>
                </a:solidFill>
                <a:latin typeface="Times New Roman"/>
                <a:ea typeface="Times New Roman"/>
                <a:cs typeface="Times New Roman"/>
              </a:defRPr>
            </a:pPr>
            <a:r>
              <a:rPr sz="1350" b="1">
                <a:solidFill>
                  <a:srgbClr val="B51F32"/>
                </a:solidFill>
                <a:latin typeface="Times New Roman"/>
                <a:ea typeface="Times New Roman"/>
                <a:cs typeface="Times New Roman"/>
              </a:rPr>
              <a:t>Relevance to this project</a:t>
            </a:r>
          </a:p>
        </p:txBody>
      </p:sp>
      <p:sp>
        <p:nvSpPr>
          <p:cNvPr id="8" name="lit-rule1">
            <a:extLst>
              <a:ext uri="{FF2B5EF4-FFF2-40B4-BE49-F238E27FC236}">
                <a16:creationId xmlns:a16="http://schemas.microsoft.com/office/drawing/2014/main" id="{B0C831D6-DCFA-401C-A087-006DC9E2A226}"/>
              </a:ext>
            </a:extLst>
          </p:cNvPr>
          <p:cNvSpPr>
            <a:spLocks noGrp="1"/>
          </p:cNvSpPr>
          <p:nvPr/>
        </p:nvSpPr>
        <p:spPr>
          <a:xfrm>
            <a:off x="1782223" y="2009445"/>
            <a:ext cx="8479060" cy="8103"/>
          </a:xfrm>
          <a:prstGeom prst="line">
            <a:avLst/>
          </a:prstGeom>
          <a:noFill/>
          <a:ln w="9525">
            <a:solidFill>
              <a:srgbClr val="B7B7B7"/>
            </a:solidFill>
            <a:prstDash val="solid"/>
          </a:ln>
        </p:spPr>
      </p:sp>
      <p:sp>
        <p:nvSpPr>
          <p:cNvPr id="9" name="lit1">
            <a:extLst>
              <a:ext uri="{FF2B5EF4-FFF2-40B4-BE49-F238E27FC236}">
                <a16:creationId xmlns:a16="http://schemas.microsoft.com/office/drawing/2014/main" id="{2B1AC691-7038-480D-BCB0-F7C613580190}"/>
              </a:ext>
            </a:extLst>
          </p:cNvPr>
          <p:cNvSpPr>
            <a:spLocks noGrp="1"/>
          </p:cNvSpPr>
          <p:nvPr/>
        </p:nvSpPr>
        <p:spPr>
          <a:xfrm>
            <a:off x="1836230" y="2114550"/>
            <a:ext cx="3402425" cy="1114425"/>
          </a:xfrm>
          <a:prstGeom prst="rect">
            <a:avLst/>
          </a:prstGeom>
          <a:noFill/>
          <a:ln w="0">
            <a:noFill/>
            <a:prstDash val="solid"/>
          </a:ln>
        </p:spPr>
        <p:txBody>
          <a:bodyPr anchor="ctr">
            <a:normAutofit fontScale="86253"/>
          </a:bodyPr>
          <a:lstStyle/>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R. Kumar et al. (2020), “LoRa Based GPS Tracking System” (IJIRSET)</a:t>
            </a: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Methods: LoRa communication and GPS. Application: asset tracking.</a:t>
            </a:r>
          </a:p>
          <a:p>
            <a:pPr algn="l">
              <a:buNone/>
              <a:defRPr sz="1350" b="0">
                <a:solidFill>
                  <a:srgbClr val="202020"/>
                </a:solidFill>
                <a:latin typeface="Times New Roman"/>
                <a:ea typeface="Times New Roman"/>
                <a:cs typeface="Times New Roman"/>
              </a:defRPr>
            </a:pPr>
            <a:endParaRPr sz="1058" b="0">
              <a:solidFill>
                <a:srgbClr val="202020"/>
              </a:solidFill>
              <a:latin typeface="Times New Roman"/>
              <a:ea typeface="Times New Roman"/>
              <a:cs typeface="Times New Roman"/>
            </a:endParaRP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A. Verma and P. Singh (2021), “Child Tracking System using IoT &amp; LoRa” (IEEE Conf.)</a:t>
            </a: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Methods: IoT, GPS and LoRa. Application: child safety.</a:t>
            </a:r>
          </a:p>
        </p:txBody>
      </p:sp>
      <p:sp>
        <p:nvSpPr>
          <p:cNvPr id="10" name="lit1b">
            <a:extLst>
              <a:ext uri="{FF2B5EF4-FFF2-40B4-BE49-F238E27FC236}">
                <a16:creationId xmlns:a16="http://schemas.microsoft.com/office/drawing/2014/main" id="{C95F79E3-C7B7-4CA3-95E9-B673D1653E7E}"/>
              </a:ext>
            </a:extLst>
          </p:cNvPr>
          <p:cNvSpPr>
            <a:spLocks noGrp="1"/>
          </p:cNvSpPr>
          <p:nvPr/>
        </p:nvSpPr>
        <p:spPr>
          <a:xfrm>
            <a:off x="5400675" y="2114550"/>
            <a:ext cx="4590574" cy="1114425"/>
          </a:xfrm>
          <a:prstGeom prst="rect">
            <a:avLst/>
          </a:prstGeom>
          <a:noFill/>
          <a:ln w="0">
            <a:noFill/>
            <a:prstDash val="solid"/>
          </a:ln>
        </p:spPr>
        <p:txBody>
          <a:bodyPr anchor="ctr">
            <a:normAutofit/>
          </a:bodyPr>
          <a:lstStyle/>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Long-range tracking using LoRa + GPS. Limitation: limited accuracy in dense urban areas.</a:t>
            </a:r>
          </a:p>
          <a:p>
            <a:pPr algn="l">
              <a:buNone/>
              <a:defRPr sz="1350" b="0">
                <a:solidFill>
                  <a:srgbClr val="202020"/>
                </a:solidFill>
                <a:latin typeface="Times New Roman"/>
                <a:ea typeface="Times New Roman"/>
                <a:cs typeface="Times New Roman"/>
              </a:defRPr>
            </a:pPr>
            <a:endParaRPr sz="1058" b="0">
              <a:solidFill>
                <a:srgbClr val="202020"/>
              </a:solidFill>
              <a:latin typeface="Times New Roman"/>
              <a:ea typeface="Times New Roman"/>
              <a:cs typeface="Times New Roman"/>
            </a:endParaRP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Real-time child-location monitoring using LoRa. Limitation: transmission delay over long distances.</a:t>
            </a:r>
          </a:p>
        </p:txBody>
      </p:sp>
      <p:sp>
        <p:nvSpPr>
          <p:cNvPr id="11" name="lit-rule2">
            <a:extLst>
              <a:ext uri="{FF2B5EF4-FFF2-40B4-BE49-F238E27FC236}">
                <a16:creationId xmlns:a16="http://schemas.microsoft.com/office/drawing/2014/main" id="{BF75551B-66F3-4C98-BE7F-2365A8FEF8EE}"/>
              </a:ext>
            </a:extLst>
          </p:cNvPr>
          <p:cNvSpPr>
            <a:spLocks noGrp="1"/>
          </p:cNvSpPr>
          <p:nvPr/>
        </p:nvSpPr>
        <p:spPr>
          <a:xfrm>
            <a:off x="1782223" y="3305175"/>
            <a:ext cx="8479060" cy="8096"/>
          </a:xfrm>
          <a:prstGeom prst="line">
            <a:avLst/>
          </a:prstGeom>
          <a:noFill/>
          <a:ln w="9525">
            <a:solidFill>
              <a:srgbClr val="B7B7B7"/>
            </a:solidFill>
            <a:prstDash val="solid"/>
          </a:ln>
        </p:spPr>
      </p:sp>
      <p:sp>
        <p:nvSpPr>
          <p:cNvPr id="12" name="lit2">
            <a:extLst>
              <a:ext uri="{FF2B5EF4-FFF2-40B4-BE49-F238E27FC236}">
                <a16:creationId xmlns:a16="http://schemas.microsoft.com/office/drawing/2014/main" id="{128DA596-8EA6-4CA4-9C71-35CF1034BE8B}"/>
              </a:ext>
            </a:extLst>
          </p:cNvPr>
          <p:cNvSpPr>
            <a:spLocks noGrp="1"/>
          </p:cNvSpPr>
          <p:nvPr/>
        </p:nvSpPr>
        <p:spPr>
          <a:xfrm>
            <a:off x="1836230" y="3409950"/>
            <a:ext cx="3402425" cy="1181100"/>
          </a:xfrm>
          <a:prstGeom prst="rect">
            <a:avLst/>
          </a:prstGeom>
          <a:noFill/>
          <a:ln w="0">
            <a:noFill/>
            <a:prstDash val="solid"/>
          </a:ln>
        </p:spPr>
        <p:txBody>
          <a:bodyPr anchor="ctr">
            <a:normAutofit fontScale="89158" lnSpcReduction="10000"/>
          </a:bodyPr>
          <a:lstStyle/>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S. Gupta et al. (2022), “Smart Wearable Tracking Device” (IJERT)</a:t>
            </a: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Methods: embedded systems and GPS. Application: wearable safety devices.</a:t>
            </a:r>
          </a:p>
          <a:p>
            <a:pPr algn="l">
              <a:buNone/>
              <a:defRPr sz="1350" b="0">
                <a:solidFill>
                  <a:srgbClr val="202020"/>
                </a:solidFill>
                <a:latin typeface="Times New Roman"/>
                <a:ea typeface="Times New Roman"/>
                <a:cs typeface="Times New Roman"/>
              </a:defRPr>
            </a:pPr>
            <a:endParaRPr sz="1058" b="0">
              <a:solidFill>
                <a:srgbClr val="202020"/>
              </a:solidFill>
              <a:latin typeface="Times New Roman"/>
              <a:ea typeface="Times New Roman"/>
              <a:cs typeface="Times New Roman"/>
            </a:endParaRP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M. Ali and K. Khan (2023), “LoRa-based Smart Monitoring System” (Springer)</a:t>
            </a: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Methods: LoRa and cloud IoT (MQTT). Application: smart cities and tracking.</a:t>
            </a:r>
          </a:p>
        </p:txBody>
      </p:sp>
      <p:sp>
        <p:nvSpPr>
          <p:cNvPr id="13" name="lit2b">
            <a:extLst>
              <a:ext uri="{FF2B5EF4-FFF2-40B4-BE49-F238E27FC236}">
                <a16:creationId xmlns:a16="http://schemas.microsoft.com/office/drawing/2014/main" id="{403DFEED-16C1-4B4B-9B82-45B0EB17E8E7}"/>
              </a:ext>
            </a:extLst>
          </p:cNvPr>
          <p:cNvSpPr>
            <a:spLocks noGrp="1"/>
          </p:cNvSpPr>
          <p:nvPr/>
        </p:nvSpPr>
        <p:spPr>
          <a:xfrm>
            <a:off x="5400675" y="3409950"/>
            <a:ext cx="4590574" cy="1181100"/>
          </a:xfrm>
          <a:prstGeom prst="rect">
            <a:avLst/>
          </a:prstGeom>
          <a:noFill/>
          <a:ln w="0">
            <a:noFill/>
            <a:prstDash val="solid"/>
          </a:ln>
        </p:spPr>
        <p:txBody>
          <a:bodyPr anchor="ctr">
            <a:normAutofit/>
          </a:bodyPr>
          <a:lstStyle/>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Wearable device for human tracking using sensors. Limitation: high power consumption.</a:t>
            </a:r>
          </a:p>
          <a:p>
            <a:pPr algn="l">
              <a:buNone/>
              <a:defRPr sz="1350" b="0">
                <a:solidFill>
                  <a:srgbClr val="202020"/>
                </a:solidFill>
                <a:latin typeface="Times New Roman"/>
                <a:ea typeface="Times New Roman"/>
                <a:cs typeface="Times New Roman"/>
              </a:defRPr>
            </a:pPr>
            <a:endParaRPr sz="1058" b="0">
              <a:solidFill>
                <a:srgbClr val="202020"/>
              </a:solidFill>
              <a:latin typeface="Times New Roman"/>
              <a:ea typeface="Times New Roman"/>
              <a:cs typeface="Times New Roman"/>
            </a:endParaRPr>
          </a:p>
          <a:p>
            <a:pPr algn="l">
              <a:buNone/>
              <a:defRPr sz="1058" b="0">
                <a:solidFill>
                  <a:srgbClr val="202020"/>
                </a:solidFill>
                <a:latin typeface="Times New Roman"/>
                <a:ea typeface="Times New Roman"/>
                <a:cs typeface="Times New Roman"/>
              </a:defRPr>
            </a:pPr>
            <a:r>
              <a:rPr sz="1058" b="0">
                <a:solidFill>
                  <a:srgbClr val="202020"/>
                </a:solidFill>
                <a:latin typeface="Times New Roman"/>
                <a:ea typeface="Times New Roman"/>
                <a:cs typeface="Times New Roman"/>
              </a:rPr>
              <a:t>LoRa integrated with a cloud dashboard for monitoring. Limitation: requires internet/cloud setup.</a:t>
            </a:r>
          </a:p>
        </p:txBody>
      </p:sp>
    </p:spTree>
    <p:extLst>
      <p:ext uri="{BB962C8B-B14F-4D97-AF65-F5344CB8AC3E}">
        <p14:creationId xmlns:p14="http://schemas.microsoft.com/office/powerpoint/2010/main" val="1807549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0B8CCD49-120F-45FF-BBBF-E2EA7F543797}"/>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CF506B68-0CBE-49C5-92F1-1C216A62D365}"/>
              </a:ext>
            </a:extLst>
          </p:cNvPr>
          <p:cNvSpPr>
            <a:spLocks noGrp="1"/>
          </p:cNvSpPr>
          <p:nvPr/>
        </p:nvSpPr>
        <p:spPr>
          <a:xfrm>
            <a:off x="2441105" y="1276160"/>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F54DC0E2-5D47-4AC4-A9C7-036B58AB7208}"/>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Social / Medical / Agricultural / Industry Relevance</a:t>
            </a:r>
          </a:p>
        </p:txBody>
      </p:sp>
      <p:sp>
        <p:nvSpPr>
          <p:cNvPr id="5" name="page-number">
            <a:extLst>
              <a:ext uri="{FF2B5EF4-FFF2-40B4-BE49-F238E27FC236}">
                <a16:creationId xmlns:a16="http://schemas.microsoft.com/office/drawing/2014/main" id="{80812A88-10ED-4A97-B643-52AC3415DFC8}"/>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8</a:t>
            </a:r>
          </a:p>
        </p:txBody>
      </p:sp>
      <p:sp>
        <p:nvSpPr>
          <p:cNvPr id="6" name="relevance-lead">
            <a:extLst>
              <a:ext uri="{FF2B5EF4-FFF2-40B4-BE49-F238E27FC236}">
                <a16:creationId xmlns:a16="http://schemas.microsoft.com/office/drawing/2014/main" id="{9574AA87-7747-467D-A6C5-68A52631A527}"/>
              </a:ext>
            </a:extLst>
          </p:cNvPr>
          <p:cNvSpPr>
            <a:spLocks noGrp="1"/>
          </p:cNvSpPr>
          <p:nvPr/>
        </p:nvSpPr>
        <p:spPr>
          <a:xfrm>
            <a:off x="1782223" y="1742059"/>
            <a:ext cx="8533066" cy="445643"/>
          </a:xfrm>
          <a:prstGeom prst="rect">
            <a:avLst/>
          </a:prstGeom>
          <a:noFill/>
          <a:ln w="0">
            <a:noFill/>
            <a:prstDash val="solid"/>
          </a:ln>
        </p:spPr>
        <p:txBody>
          <a:bodyPr anchor="ctr">
            <a:normAutofit/>
          </a:bodyPr>
          <a:lstStyle/>
          <a:p>
            <a:pPr algn="l">
              <a:buNone/>
              <a:defRPr sz="1620" b="1">
                <a:solidFill>
                  <a:srgbClr val="25466C"/>
                </a:solidFill>
                <a:latin typeface="Times New Roman"/>
                <a:ea typeface="Times New Roman"/>
                <a:cs typeface="Times New Roman"/>
              </a:defRPr>
            </a:pPr>
            <a:r>
              <a:rPr sz="1620" b="1">
                <a:solidFill>
                  <a:srgbClr val="25466C"/>
                </a:solidFill>
                <a:latin typeface="Times New Roman"/>
                <a:ea typeface="Times New Roman"/>
                <a:cs typeface="Times New Roman"/>
              </a:rPr>
              <a:t>The prototype is designed for general outdoor and remote-area use.</a:t>
            </a:r>
          </a:p>
        </p:txBody>
      </p:sp>
      <p:sp>
        <p:nvSpPr>
          <p:cNvPr id="7" name="bullet-1">
            <a:extLst>
              <a:ext uri="{FF2B5EF4-FFF2-40B4-BE49-F238E27FC236}">
                <a16:creationId xmlns:a16="http://schemas.microsoft.com/office/drawing/2014/main" id="{969932CA-5C3A-4DFC-801F-C8781B6F5569}"/>
              </a:ext>
            </a:extLst>
          </p:cNvPr>
          <p:cNvSpPr>
            <a:spLocks noGrp="1"/>
          </p:cNvSpPr>
          <p:nvPr/>
        </p:nvSpPr>
        <p:spPr>
          <a:xfrm>
            <a:off x="1770142" y="2634434"/>
            <a:ext cx="86411" cy="64821"/>
          </a:xfrm>
          <a:prstGeom prst="rect">
            <a:avLst/>
          </a:prstGeom>
          <a:solidFill>
            <a:srgbClr val="B51F32"/>
          </a:solidFill>
          <a:ln w="0">
            <a:noFill/>
            <a:prstDash val="solid"/>
          </a:ln>
        </p:spPr>
      </p:sp>
      <p:sp>
        <p:nvSpPr>
          <p:cNvPr id="8" name="bullet-text-1">
            <a:extLst>
              <a:ext uri="{FF2B5EF4-FFF2-40B4-BE49-F238E27FC236}">
                <a16:creationId xmlns:a16="http://schemas.microsoft.com/office/drawing/2014/main" id="{8D9D09F9-ADD7-4D77-97A8-3D786CF8A1BD}"/>
              </a:ext>
            </a:extLst>
          </p:cNvPr>
          <p:cNvSpPr>
            <a:spLocks noGrp="1"/>
          </p:cNvSpPr>
          <p:nvPr/>
        </p:nvSpPr>
        <p:spPr>
          <a:xfrm>
            <a:off x="2019852" y="2317344"/>
            <a:ext cx="8295437" cy="632003"/>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Social safety: lets members of an outdoor group exchange their locations.</a:t>
            </a:r>
          </a:p>
        </p:txBody>
      </p:sp>
      <p:sp>
        <p:nvSpPr>
          <p:cNvPr id="9" name="bullet-2">
            <a:extLst>
              <a:ext uri="{FF2B5EF4-FFF2-40B4-BE49-F238E27FC236}">
                <a16:creationId xmlns:a16="http://schemas.microsoft.com/office/drawing/2014/main" id="{65592AFE-D669-4EEC-8976-BD5C817273FC}"/>
              </a:ext>
            </a:extLst>
          </p:cNvPr>
          <p:cNvSpPr>
            <a:spLocks noGrp="1"/>
          </p:cNvSpPr>
          <p:nvPr/>
        </p:nvSpPr>
        <p:spPr>
          <a:xfrm>
            <a:off x="1775479" y="3164609"/>
            <a:ext cx="86411" cy="64821"/>
          </a:xfrm>
          <a:prstGeom prst="rect">
            <a:avLst/>
          </a:prstGeom>
          <a:solidFill>
            <a:srgbClr val="B51F32"/>
          </a:solidFill>
          <a:ln w="0">
            <a:noFill/>
            <a:prstDash val="solid"/>
          </a:ln>
        </p:spPr>
      </p:sp>
      <p:sp>
        <p:nvSpPr>
          <p:cNvPr id="10" name="bullet-text-2">
            <a:extLst>
              <a:ext uri="{FF2B5EF4-FFF2-40B4-BE49-F238E27FC236}">
                <a16:creationId xmlns:a16="http://schemas.microsoft.com/office/drawing/2014/main" id="{58389438-CE3D-438C-B795-7EC735823DD1}"/>
              </a:ext>
            </a:extLst>
          </p:cNvPr>
          <p:cNvSpPr>
            <a:spLocks noGrp="1"/>
          </p:cNvSpPr>
          <p:nvPr/>
        </p:nvSpPr>
        <p:spPr>
          <a:xfrm>
            <a:off x="2019852" y="2981757"/>
            <a:ext cx="8295437" cy="632003"/>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Emergency response: can support location sharing when cellular coverage is limited, subject to radio-link availability.</a:t>
            </a:r>
          </a:p>
        </p:txBody>
      </p:sp>
      <p:sp>
        <p:nvSpPr>
          <p:cNvPr id="11" name="bullet-3">
            <a:extLst>
              <a:ext uri="{FF2B5EF4-FFF2-40B4-BE49-F238E27FC236}">
                <a16:creationId xmlns:a16="http://schemas.microsoft.com/office/drawing/2014/main" id="{EAEAA0DA-BB2B-40F3-A4C7-0311BB04DF31}"/>
              </a:ext>
            </a:extLst>
          </p:cNvPr>
          <p:cNvSpPr>
            <a:spLocks noGrp="1"/>
          </p:cNvSpPr>
          <p:nvPr/>
        </p:nvSpPr>
        <p:spPr>
          <a:xfrm>
            <a:off x="1782223" y="3824428"/>
            <a:ext cx="86411" cy="64821"/>
          </a:xfrm>
          <a:prstGeom prst="rect">
            <a:avLst/>
          </a:prstGeom>
          <a:solidFill>
            <a:srgbClr val="B51F32"/>
          </a:solidFill>
          <a:ln w="0">
            <a:noFill/>
            <a:prstDash val="solid"/>
          </a:ln>
        </p:spPr>
      </p:sp>
      <p:sp>
        <p:nvSpPr>
          <p:cNvPr id="12" name="bullet-text-3">
            <a:extLst>
              <a:ext uri="{FF2B5EF4-FFF2-40B4-BE49-F238E27FC236}">
                <a16:creationId xmlns:a16="http://schemas.microsoft.com/office/drawing/2014/main" id="{F8F774CF-92C3-49EB-96DD-C6EB51A9DADF}"/>
              </a:ext>
            </a:extLst>
          </p:cNvPr>
          <p:cNvSpPr>
            <a:spLocks noGrp="1"/>
          </p:cNvSpPr>
          <p:nvPr/>
        </p:nvSpPr>
        <p:spPr>
          <a:xfrm>
            <a:off x="2019852" y="3646170"/>
            <a:ext cx="8295437" cy="632003"/>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Agriculture and field work: the same node architecture could be adapted for staff or asset location across remote sites.</a:t>
            </a:r>
          </a:p>
        </p:txBody>
      </p:sp>
      <p:sp>
        <p:nvSpPr>
          <p:cNvPr id="13" name="bullet-4">
            <a:extLst>
              <a:ext uri="{FF2B5EF4-FFF2-40B4-BE49-F238E27FC236}">
                <a16:creationId xmlns:a16="http://schemas.microsoft.com/office/drawing/2014/main" id="{6C887690-D759-4CF7-9111-37D4A0B99067}"/>
              </a:ext>
            </a:extLst>
          </p:cNvPr>
          <p:cNvSpPr>
            <a:spLocks noGrp="1"/>
          </p:cNvSpPr>
          <p:nvPr/>
        </p:nvSpPr>
        <p:spPr>
          <a:xfrm>
            <a:off x="1782223" y="4588368"/>
            <a:ext cx="86411" cy="64821"/>
          </a:xfrm>
          <a:prstGeom prst="rect">
            <a:avLst/>
          </a:prstGeom>
          <a:solidFill>
            <a:srgbClr val="B51F32"/>
          </a:solidFill>
          <a:ln w="0">
            <a:noFill/>
            <a:prstDash val="solid"/>
          </a:ln>
        </p:spPr>
      </p:sp>
      <p:sp>
        <p:nvSpPr>
          <p:cNvPr id="14" name="bullet-text-4">
            <a:extLst>
              <a:ext uri="{FF2B5EF4-FFF2-40B4-BE49-F238E27FC236}">
                <a16:creationId xmlns:a16="http://schemas.microsoft.com/office/drawing/2014/main" id="{A55317A2-724A-4D7C-8E18-DC3810F81CBF}"/>
              </a:ext>
            </a:extLst>
          </p:cNvPr>
          <p:cNvSpPr>
            <a:spLocks noGrp="1"/>
          </p:cNvSpPr>
          <p:nvPr/>
        </p:nvSpPr>
        <p:spPr>
          <a:xfrm>
            <a:off x="2019852" y="4310583"/>
            <a:ext cx="8295437" cy="632003"/>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Industrial operations: a low-rate radio link can support position updates for teams working across large areas.</a:t>
            </a:r>
          </a:p>
        </p:txBody>
      </p:sp>
    </p:spTree>
    <p:extLst>
      <p:ext uri="{BB962C8B-B14F-4D97-AF65-F5344CB8AC3E}">
        <p14:creationId xmlns:p14="http://schemas.microsoft.com/office/powerpoint/2010/main" val="28947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0A417035-D735-4E2F-9C49-1DE106AAFA48}"/>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6CC6127E-F001-4F94-87F7-6D5ADFD1C6A1}"/>
              </a:ext>
            </a:extLst>
          </p:cNvPr>
          <p:cNvSpPr>
            <a:spLocks noGrp="1"/>
          </p:cNvSpPr>
          <p:nvPr/>
        </p:nvSpPr>
        <p:spPr>
          <a:xfrm>
            <a:off x="2372050" y="1282271"/>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DD0089AD-D26F-4DC9-97DD-4B8EC478A85B}"/>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Block Diagram and Its Explanation</a:t>
            </a:r>
          </a:p>
        </p:txBody>
      </p:sp>
      <p:sp>
        <p:nvSpPr>
          <p:cNvPr id="5" name="page-number">
            <a:extLst>
              <a:ext uri="{FF2B5EF4-FFF2-40B4-BE49-F238E27FC236}">
                <a16:creationId xmlns:a16="http://schemas.microsoft.com/office/drawing/2014/main" id="{2E8A82F6-2CBD-4179-A6DB-144C03C78B26}"/>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9</a:t>
            </a:r>
          </a:p>
        </p:txBody>
      </p:sp>
      <p:sp>
        <p:nvSpPr>
          <p:cNvPr id="6" name="diagram-sub">
            <a:extLst>
              <a:ext uri="{FF2B5EF4-FFF2-40B4-BE49-F238E27FC236}">
                <a16:creationId xmlns:a16="http://schemas.microsoft.com/office/drawing/2014/main" id="{F5AAD87B-695B-451A-A9DD-169B35B15EC0}"/>
              </a:ext>
            </a:extLst>
          </p:cNvPr>
          <p:cNvSpPr>
            <a:spLocks noGrp="1"/>
          </p:cNvSpPr>
          <p:nvPr/>
        </p:nvSpPr>
        <p:spPr>
          <a:xfrm>
            <a:off x="1782223" y="1644828"/>
            <a:ext cx="8533066" cy="291694"/>
          </a:xfrm>
          <a:prstGeom prst="rect">
            <a:avLst/>
          </a:prstGeom>
          <a:noFill/>
          <a:ln w="0">
            <a:noFill/>
            <a:prstDash val="solid"/>
          </a:ln>
        </p:spPr>
        <p:txBody>
          <a:bodyPr anchor="ctr">
            <a:normAutofit fontScale="92666"/>
          </a:bodyPr>
          <a:lstStyle/>
          <a:p>
            <a:pPr algn="ctr">
              <a:buNone/>
              <a:defRPr sz="1418" b="1">
                <a:solidFill>
                  <a:srgbClr val="25466C"/>
                </a:solidFill>
                <a:latin typeface="Times New Roman"/>
                <a:ea typeface="Times New Roman"/>
                <a:cs typeface="Times New Roman"/>
              </a:defRPr>
            </a:pPr>
            <a:r>
              <a:rPr sz="1418" b="1">
                <a:solidFill>
                  <a:srgbClr val="25466C"/>
                </a:solidFill>
                <a:latin typeface="Times New Roman"/>
                <a:ea typeface="Times New Roman"/>
                <a:cs typeface="Times New Roman"/>
              </a:rPr>
              <a:t>Current bidirectional data path</a:t>
            </a:r>
          </a:p>
        </p:txBody>
      </p:sp>
      <p:sp>
        <p:nvSpPr>
          <p:cNvPr id="7" name="node-1">
            <a:extLst>
              <a:ext uri="{FF2B5EF4-FFF2-40B4-BE49-F238E27FC236}">
                <a16:creationId xmlns:a16="http://schemas.microsoft.com/office/drawing/2014/main" id="{1429553B-A1A6-4972-9341-CC8A872E02B2}"/>
              </a:ext>
            </a:extLst>
          </p:cNvPr>
          <p:cNvSpPr>
            <a:spLocks noGrp="1"/>
          </p:cNvSpPr>
          <p:nvPr/>
        </p:nvSpPr>
        <p:spPr>
          <a:xfrm>
            <a:off x="1566196" y="2511806"/>
            <a:ext cx="1209751" cy="777850"/>
          </a:xfrm>
          <a:prstGeom prst="roundRect">
            <a:avLst>
              <a:gd name="adj" fmla="val 9796"/>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Phone 1</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GPS + app</a:t>
            </a:r>
          </a:p>
        </p:txBody>
      </p:sp>
      <p:sp>
        <p:nvSpPr>
          <p:cNvPr id="8" name="node-2">
            <a:extLst>
              <a:ext uri="{FF2B5EF4-FFF2-40B4-BE49-F238E27FC236}">
                <a16:creationId xmlns:a16="http://schemas.microsoft.com/office/drawing/2014/main" id="{7300469E-7734-4D11-B539-D83FAF33741B}"/>
              </a:ext>
            </a:extLst>
          </p:cNvPr>
          <p:cNvSpPr>
            <a:spLocks noGrp="1"/>
          </p:cNvSpPr>
          <p:nvPr/>
        </p:nvSpPr>
        <p:spPr>
          <a:xfrm>
            <a:off x="3002775" y="2511806"/>
            <a:ext cx="1209751" cy="777850"/>
          </a:xfrm>
          <a:prstGeom prst="roundRect">
            <a:avLst>
              <a:gd name="adj" fmla="val 9796"/>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ESP32 1</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BLE node</a:t>
            </a:r>
          </a:p>
        </p:txBody>
      </p:sp>
      <p:sp>
        <p:nvSpPr>
          <p:cNvPr id="9" name="node-3">
            <a:extLst>
              <a:ext uri="{FF2B5EF4-FFF2-40B4-BE49-F238E27FC236}">
                <a16:creationId xmlns:a16="http://schemas.microsoft.com/office/drawing/2014/main" id="{F723C522-7228-41A7-878C-319D814CEDD1}"/>
              </a:ext>
            </a:extLst>
          </p:cNvPr>
          <p:cNvSpPr>
            <a:spLocks noGrp="1"/>
          </p:cNvSpPr>
          <p:nvPr/>
        </p:nvSpPr>
        <p:spPr>
          <a:xfrm>
            <a:off x="4439355" y="2511806"/>
            <a:ext cx="1209751" cy="777850"/>
          </a:xfrm>
          <a:prstGeom prst="roundRect">
            <a:avLst>
              <a:gd name="adj" fmla="val 9796"/>
            </a:avLst>
          </a:prstGeom>
          <a:solidFill>
            <a:srgbClr val="FBE8EA"/>
          </a:solidFill>
          <a:ln w="14288">
            <a:solidFill>
              <a:srgbClr val="7D8A97"/>
            </a:solidFill>
            <a:prstDash val="solid"/>
          </a:ln>
        </p:spPr>
        <p:txBody>
          <a:bodyPr anchor="ctr">
            <a:normAutofit fontScale="98506"/>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SX1278</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LoRa 433 MHz</a:t>
            </a:r>
          </a:p>
        </p:txBody>
      </p:sp>
      <p:sp>
        <p:nvSpPr>
          <p:cNvPr id="10" name="node-4">
            <a:extLst>
              <a:ext uri="{FF2B5EF4-FFF2-40B4-BE49-F238E27FC236}">
                <a16:creationId xmlns:a16="http://schemas.microsoft.com/office/drawing/2014/main" id="{A72C0441-2D26-4201-9AFF-F03100B82F98}"/>
              </a:ext>
            </a:extLst>
          </p:cNvPr>
          <p:cNvSpPr>
            <a:spLocks noGrp="1"/>
          </p:cNvSpPr>
          <p:nvPr/>
        </p:nvSpPr>
        <p:spPr>
          <a:xfrm>
            <a:off x="5875934" y="2511806"/>
            <a:ext cx="1209751" cy="777850"/>
          </a:xfrm>
          <a:prstGeom prst="roundRect">
            <a:avLst>
              <a:gd name="adj" fmla="val 9796"/>
            </a:avLst>
          </a:prstGeom>
          <a:solidFill>
            <a:srgbClr val="FBE8EA"/>
          </a:solidFill>
          <a:ln w="14288">
            <a:solidFill>
              <a:srgbClr val="7D8A97"/>
            </a:solidFill>
            <a:prstDash val="solid"/>
          </a:ln>
        </p:spPr>
        <p:txBody>
          <a:bodyPr anchor="ctr">
            <a:normAutofit fontScale="98506"/>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SX1278</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LoRa 433 MHz</a:t>
            </a:r>
          </a:p>
        </p:txBody>
      </p:sp>
      <p:sp>
        <p:nvSpPr>
          <p:cNvPr id="11" name="node-5">
            <a:extLst>
              <a:ext uri="{FF2B5EF4-FFF2-40B4-BE49-F238E27FC236}">
                <a16:creationId xmlns:a16="http://schemas.microsoft.com/office/drawing/2014/main" id="{D1D56BD7-0A19-4A13-A34B-EEE138A9FF57}"/>
              </a:ext>
            </a:extLst>
          </p:cNvPr>
          <p:cNvSpPr>
            <a:spLocks noGrp="1"/>
          </p:cNvSpPr>
          <p:nvPr/>
        </p:nvSpPr>
        <p:spPr>
          <a:xfrm>
            <a:off x="7312514" y="2511806"/>
            <a:ext cx="1209751" cy="777850"/>
          </a:xfrm>
          <a:prstGeom prst="roundRect">
            <a:avLst>
              <a:gd name="adj" fmla="val 9796"/>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ESP32 2</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BLE node</a:t>
            </a:r>
          </a:p>
        </p:txBody>
      </p:sp>
      <p:sp>
        <p:nvSpPr>
          <p:cNvPr id="12" name="node-6">
            <a:extLst>
              <a:ext uri="{FF2B5EF4-FFF2-40B4-BE49-F238E27FC236}">
                <a16:creationId xmlns:a16="http://schemas.microsoft.com/office/drawing/2014/main" id="{1862FD0E-A9B0-4B13-83AE-A449DA69FA1C}"/>
              </a:ext>
            </a:extLst>
          </p:cNvPr>
          <p:cNvSpPr>
            <a:spLocks noGrp="1"/>
          </p:cNvSpPr>
          <p:nvPr/>
        </p:nvSpPr>
        <p:spPr>
          <a:xfrm>
            <a:off x="8749094" y="2511806"/>
            <a:ext cx="1209751" cy="777850"/>
          </a:xfrm>
          <a:prstGeom prst="roundRect">
            <a:avLst>
              <a:gd name="adj" fmla="val 9796"/>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Phone 2</a:t>
            </a:r>
          </a:p>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GPS + app</a:t>
            </a:r>
          </a:p>
        </p:txBody>
      </p:sp>
      <p:sp>
        <p:nvSpPr>
          <p:cNvPr id="13" name="two-way-link-1">
            <a:extLst>
              <a:ext uri="{FF2B5EF4-FFF2-40B4-BE49-F238E27FC236}">
                <a16:creationId xmlns:a16="http://schemas.microsoft.com/office/drawing/2014/main" id="{A324439F-08E7-4EF1-95F3-908AA6AED92A}"/>
              </a:ext>
            </a:extLst>
          </p:cNvPr>
          <p:cNvSpPr>
            <a:spLocks noGrp="1"/>
          </p:cNvSpPr>
          <p:nvPr/>
        </p:nvSpPr>
        <p:spPr>
          <a:xfrm>
            <a:off x="2765146" y="2795397"/>
            <a:ext cx="237630" cy="162052"/>
          </a:xfrm>
          <a:prstGeom prst="leftRightArrow">
            <a:avLst/>
          </a:prstGeom>
          <a:solidFill>
            <a:srgbClr val="25466C"/>
          </a:solidFill>
          <a:ln w="0">
            <a:noFill/>
            <a:prstDash val="solid"/>
          </a:ln>
        </p:spPr>
      </p:sp>
      <p:sp>
        <p:nvSpPr>
          <p:cNvPr id="14" name="two-way-link-2">
            <a:extLst>
              <a:ext uri="{FF2B5EF4-FFF2-40B4-BE49-F238E27FC236}">
                <a16:creationId xmlns:a16="http://schemas.microsoft.com/office/drawing/2014/main" id="{3D6B6E78-4B7E-4C75-9B45-94ED9DA5E8B9}"/>
              </a:ext>
            </a:extLst>
          </p:cNvPr>
          <p:cNvSpPr>
            <a:spLocks noGrp="1"/>
          </p:cNvSpPr>
          <p:nvPr/>
        </p:nvSpPr>
        <p:spPr>
          <a:xfrm>
            <a:off x="4201725" y="2795397"/>
            <a:ext cx="237630" cy="162052"/>
          </a:xfrm>
          <a:prstGeom prst="leftRightArrow">
            <a:avLst/>
          </a:prstGeom>
          <a:solidFill>
            <a:srgbClr val="25466C"/>
          </a:solidFill>
          <a:ln w="0">
            <a:noFill/>
            <a:prstDash val="solid"/>
          </a:ln>
        </p:spPr>
      </p:sp>
      <p:sp>
        <p:nvSpPr>
          <p:cNvPr id="15" name="two-way-link-3">
            <a:extLst>
              <a:ext uri="{FF2B5EF4-FFF2-40B4-BE49-F238E27FC236}">
                <a16:creationId xmlns:a16="http://schemas.microsoft.com/office/drawing/2014/main" id="{65D0B5E5-340F-491E-9BC0-440310F55E99}"/>
              </a:ext>
            </a:extLst>
          </p:cNvPr>
          <p:cNvSpPr>
            <a:spLocks noGrp="1"/>
          </p:cNvSpPr>
          <p:nvPr/>
        </p:nvSpPr>
        <p:spPr>
          <a:xfrm>
            <a:off x="5638305" y="2795397"/>
            <a:ext cx="237630" cy="162052"/>
          </a:xfrm>
          <a:prstGeom prst="leftRightArrow">
            <a:avLst/>
          </a:prstGeom>
          <a:solidFill>
            <a:srgbClr val="D71932"/>
          </a:solidFill>
          <a:ln w="0">
            <a:noFill/>
            <a:prstDash val="solid"/>
          </a:ln>
        </p:spPr>
      </p:sp>
      <p:sp>
        <p:nvSpPr>
          <p:cNvPr id="16" name="two-way-link-4">
            <a:extLst>
              <a:ext uri="{FF2B5EF4-FFF2-40B4-BE49-F238E27FC236}">
                <a16:creationId xmlns:a16="http://schemas.microsoft.com/office/drawing/2014/main" id="{6B694BF1-E439-4BA1-B485-65FB5E69F341}"/>
              </a:ext>
            </a:extLst>
          </p:cNvPr>
          <p:cNvSpPr>
            <a:spLocks noGrp="1"/>
          </p:cNvSpPr>
          <p:nvPr/>
        </p:nvSpPr>
        <p:spPr>
          <a:xfrm>
            <a:off x="7074884" y="2795397"/>
            <a:ext cx="237630" cy="162052"/>
          </a:xfrm>
          <a:prstGeom prst="leftRightArrow">
            <a:avLst/>
          </a:prstGeom>
          <a:solidFill>
            <a:srgbClr val="25466C"/>
          </a:solidFill>
          <a:ln w="0">
            <a:noFill/>
            <a:prstDash val="solid"/>
          </a:ln>
        </p:spPr>
      </p:sp>
      <p:sp>
        <p:nvSpPr>
          <p:cNvPr id="17" name="two-way-link-5">
            <a:extLst>
              <a:ext uri="{FF2B5EF4-FFF2-40B4-BE49-F238E27FC236}">
                <a16:creationId xmlns:a16="http://schemas.microsoft.com/office/drawing/2014/main" id="{E2CDCF00-DFC1-435B-AB2C-1B40DAB84D6C}"/>
              </a:ext>
            </a:extLst>
          </p:cNvPr>
          <p:cNvSpPr>
            <a:spLocks noGrp="1"/>
          </p:cNvSpPr>
          <p:nvPr/>
        </p:nvSpPr>
        <p:spPr>
          <a:xfrm>
            <a:off x="8511464" y="2795397"/>
            <a:ext cx="237630" cy="162052"/>
          </a:xfrm>
          <a:prstGeom prst="leftRightArrow">
            <a:avLst/>
          </a:prstGeom>
          <a:solidFill>
            <a:srgbClr val="25466C"/>
          </a:solidFill>
          <a:ln w="0">
            <a:noFill/>
            <a:prstDash val="solid"/>
          </a:ln>
        </p:spPr>
      </p:sp>
      <p:sp>
        <p:nvSpPr>
          <p:cNvPr id="18" name="label-ble1">
            <a:extLst>
              <a:ext uri="{FF2B5EF4-FFF2-40B4-BE49-F238E27FC236}">
                <a16:creationId xmlns:a16="http://schemas.microsoft.com/office/drawing/2014/main" id="{DA92D63A-5686-4DBA-9684-998CAD9F303F}"/>
              </a:ext>
            </a:extLst>
          </p:cNvPr>
          <p:cNvSpPr>
            <a:spLocks noGrp="1"/>
          </p:cNvSpPr>
          <p:nvPr/>
        </p:nvSpPr>
        <p:spPr>
          <a:xfrm>
            <a:off x="2700338" y="2252523"/>
            <a:ext cx="712889" cy="210668"/>
          </a:xfrm>
          <a:prstGeom prst="rect">
            <a:avLst/>
          </a:prstGeom>
          <a:noFill/>
          <a:ln w="0">
            <a:noFill/>
            <a:prstDash val="solid"/>
          </a:ln>
        </p:spPr>
        <p:txBody>
          <a:bodyPr anchor="ctr">
            <a:normAutofit fontScale="68148" lnSpcReduction="10000"/>
          </a:bodyPr>
          <a:lstStyle/>
          <a:p>
            <a:pPr algn="ctr">
              <a:buNone/>
              <a:defRPr sz="1148" b="1">
                <a:solidFill>
                  <a:srgbClr val="4C4C4C"/>
                </a:solidFill>
                <a:latin typeface="Times New Roman"/>
                <a:ea typeface="Times New Roman"/>
                <a:cs typeface="Times New Roman"/>
              </a:defRPr>
            </a:pPr>
            <a:r>
              <a:rPr sz="1148" b="1">
                <a:solidFill>
                  <a:srgbClr val="4C4C4C"/>
                </a:solidFill>
                <a:latin typeface="Times New Roman"/>
                <a:ea typeface="Times New Roman"/>
                <a:cs typeface="Times New Roman"/>
              </a:rPr>
              <a:t>BLE</a:t>
            </a:r>
          </a:p>
        </p:txBody>
      </p:sp>
      <p:sp>
        <p:nvSpPr>
          <p:cNvPr id="20" name="label-ble2">
            <a:extLst>
              <a:ext uri="{FF2B5EF4-FFF2-40B4-BE49-F238E27FC236}">
                <a16:creationId xmlns:a16="http://schemas.microsoft.com/office/drawing/2014/main" id="{F1102FE3-FCDC-4F6F-88DD-96656B9954A4}"/>
              </a:ext>
            </a:extLst>
          </p:cNvPr>
          <p:cNvSpPr>
            <a:spLocks noGrp="1"/>
          </p:cNvSpPr>
          <p:nvPr/>
        </p:nvSpPr>
        <p:spPr>
          <a:xfrm>
            <a:off x="7290911" y="2252523"/>
            <a:ext cx="712889" cy="210668"/>
          </a:xfrm>
          <a:prstGeom prst="rect">
            <a:avLst/>
          </a:prstGeom>
          <a:noFill/>
          <a:ln w="0">
            <a:noFill/>
            <a:prstDash val="solid"/>
          </a:ln>
        </p:spPr>
        <p:txBody>
          <a:bodyPr anchor="ctr">
            <a:normAutofit fontScale="68148" lnSpcReduction="10000"/>
          </a:bodyPr>
          <a:lstStyle/>
          <a:p>
            <a:pPr algn="ctr">
              <a:buNone/>
              <a:defRPr sz="1148" b="1">
                <a:solidFill>
                  <a:srgbClr val="4C4C4C"/>
                </a:solidFill>
                <a:latin typeface="Times New Roman"/>
                <a:ea typeface="Times New Roman"/>
                <a:cs typeface="Times New Roman"/>
              </a:defRPr>
            </a:pPr>
            <a:r>
              <a:rPr sz="1148" b="1">
                <a:solidFill>
                  <a:srgbClr val="4C4C4C"/>
                </a:solidFill>
                <a:latin typeface="Times New Roman"/>
                <a:ea typeface="Times New Roman"/>
                <a:cs typeface="Times New Roman"/>
              </a:rPr>
              <a:t>BLE</a:t>
            </a:r>
          </a:p>
        </p:txBody>
      </p:sp>
      <p:sp>
        <p:nvSpPr>
          <p:cNvPr id="21" name="diagram-explain">
            <a:extLst>
              <a:ext uri="{FF2B5EF4-FFF2-40B4-BE49-F238E27FC236}">
                <a16:creationId xmlns:a16="http://schemas.microsoft.com/office/drawing/2014/main" id="{04964E30-6E6C-4FD9-AEFE-3A42E824EE97}"/>
              </a:ext>
            </a:extLst>
          </p:cNvPr>
          <p:cNvSpPr>
            <a:spLocks noGrp="1"/>
          </p:cNvSpPr>
          <p:nvPr/>
        </p:nvSpPr>
        <p:spPr>
          <a:xfrm>
            <a:off x="1836229" y="3686683"/>
            <a:ext cx="8209026" cy="79405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Phone 1 sends GPS coordinates through BLE to ESP32 1. The LoRa link carries the packet to ESP32 2, which forwards it by BLE to Phone 2. The same path works in reverse.</a:t>
            </a:r>
          </a:p>
        </p:txBody>
      </p:sp>
      <p:sp>
        <p:nvSpPr>
          <p:cNvPr id="22" name="diagram-offline">
            <a:extLst>
              <a:ext uri="{FF2B5EF4-FFF2-40B4-BE49-F238E27FC236}">
                <a16:creationId xmlns:a16="http://schemas.microsoft.com/office/drawing/2014/main" id="{67323CA7-0C3D-46DF-8407-C948A0E37E95}"/>
              </a:ext>
            </a:extLst>
          </p:cNvPr>
          <p:cNvSpPr>
            <a:spLocks noGrp="1"/>
          </p:cNvSpPr>
          <p:nvPr/>
        </p:nvSpPr>
        <p:spPr>
          <a:xfrm>
            <a:off x="1836229" y="4699508"/>
            <a:ext cx="8209026" cy="583387"/>
          </a:xfrm>
          <a:prstGeom prst="rect">
            <a:avLst/>
          </a:prstGeom>
          <a:noFill/>
          <a:ln w="0">
            <a:noFill/>
            <a:prstDash val="solid"/>
          </a:ln>
        </p:spPr>
        <p:txBody>
          <a:bodyPr anchor="ctr">
            <a:normAutofit/>
          </a:bodyPr>
          <a:lstStyle/>
          <a:p>
            <a:pPr algn="l">
              <a:buNone/>
              <a:defRPr sz="1350" b="0">
                <a:solidFill>
                  <a:srgbClr val="4C4C4C"/>
                </a:solidFill>
                <a:latin typeface="Times New Roman"/>
                <a:ea typeface="Times New Roman"/>
                <a:cs typeface="Times New Roman"/>
              </a:defRPr>
            </a:pPr>
            <a:r>
              <a:rPr sz="1350" b="0">
                <a:solidFill>
                  <a:srgbClr val="4C4C4C"/>
                </a:solidFill>
                <a:latin typeface="Times New Roman"/>
                <a:ea typeface="Times New Roman"/>
                <a:cs typeface="Times New Roman"/>
              </a:rPr>
              <a:t>The core LoRa exchange works without internet or cellular service. Phones still need GPS reception to determine their coordinates.</a:t>
            </a:r>
          </a:p>
        </p:txBody>
      </p:sp>
    </p:spTree>
    <p:extLst>
      <p:ext uri="{BB962C8B-B14F-4D97-AF65-F5344CB8AC3E}">
        <p14:creationId xmlns:p14="http://schemas.microsoft.com/office/powerpoint/2010/main" val="305380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D5DB82B4-9818-4CC4-BCF8-668D0E001D4B}"/>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BEC4D4C1-80EE-494A-A784-FB870BA25509}"/>
              </a:ext>
            </a:extLst>
          </p:cNvPr>
          <p:cNvSpPr>
            <a:spLocks noGrp="1"/>
          </p:cNvSpPr>
          <p:nvPr/>
        </p:nvSpPr>
        <p:spPr>
          <a:xfrm>
            <a:off x="2354633" y="1267883"/>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2DA8DEF7-7287-486C-8F37-0906100CFC0B}"/>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Software and Hardware Requirements</a:t>
            </a:r>
          </a:p>
        </p:txBody>
      </p:sp>
      <p:sp>
        <p:nvSpPr>
          <p:cNvPr id="5" name="page-number">
            <a:extLst>
              <a:ext uri="{FF2B5EF4-FFF2-40B4-BE49-F238E27FC236}">
                <a16:creationId xmlns:a16="http://schemas.microsoft.com/office/drawing/2014/main" id="{3D2C1029-6C52-46FB-923D-7714B96EF6A2}"/>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10</a:t>
            </a:r>
          </a:p>
        </p:txBody>
      </p:sp>
      <p:sp>
        <p:nvSpPr>
          <p:cNvPr id="6" name="hardware-head">
            <a:extLst>
              <a:ext uri="{FF2B5EF4-FFF2-40B4-BE49-F238E27FC236}">
                <a16:creationId xmlns:a16="http://schemas.microsoft.com/office/drawing/2014/main" id="{F7B599A6-F172-47BC-B308-C6898E08C66E}"/>
              </a:ext>
            </a:extLst>
          </p:cNvPr>
          <p:cNvSpPr>
            <a:spLocks noGrp="1"/>
          </p:cNvSpPr>
          <p:nvPr/>
        </p:nvSpPr>
        <p:spPr>
          <a:xfrm>
            <a:off x="1782223" y="1701546"/>
            <a:ext cx="3888486" cy="283591"/>
          </a:xfrm>
          <a:prstGeom prst="rect">
            <a:avLst/>
          </a:prstGeom>
          <a:noFill/>
          <a:ln w="0">
            <a:noFill/>
            <a:prstDash val="solid"/>
          </a:ln>
        </p:spPr>
        <p:txBody>
          <a:bodyPr anchor="ctr">
            <a:normAutofit fontScale="81239" lnSpcReduction="10000"/>
          </a:bodyPr>
          <a:lstStyle/>
          <a:p>
            <a:pPr algn="l">
              <a:buNone/>
              <a:defRPr sz="1552" b="1">
                <a:solidFill>
                  <a:srgbClr val="B51F32"/>
                </a:solidFill>
                <a:latin typeface="Times New Roman"/>
                <a:ea typeface="Times New Roman"/>
                <a:cs typeface="Times New Roman"/>
              </a:defRPr>
            </a:pPr>
            <a:r>
              <a:rPr sz="1552" b="1">
                <a:solidFill>
                  <a:srgbClr val="B51F32"/>
                </a:solidFill>
                <a:latin typeface="Times New Roman"/>
                <a:ea typeface="Times New Roman"/>
                <a:cs typeface="Times New Roman"/>
              </a:rPr>
              <a:t>Hardware</a:t>
            </a:r>
          </a:p>
        </p:txBody>
      </p:sp>
      <p:sp>
        <p:nvSpPr>
          <p:cNvPr id="7" name="bullet-1">
            <a:extLst>
              <a:ext uri="{FF2B5EF4-FFF2-40B4-BE49-F238E27FC236}">
                <a16:creationId xmlns:a16="http://schemas.microsoft.com/office/drawing/2014/main" id="{26FB606D-7830-4610-8264-05B62132EB74}"/>
              </a:ext>
            </a:extLst>
          </p:cNvPr>
          <p:cNvSpPr>
            <a:spLocks noGrp="1"/>
          </p:cNvSpPr>
          <p:nvPr/>
        </p:nvSpPr>
        <p:spPr>
          <a:xfrm>
            <a:off x="1778851" y="2290973"/>
            <a:ext cx="86411" cy="64821"/>
          </a:xfrm>
          <a:prstGeom prst="rect">
            <a:avLst/>
          </a:prstGeom>
          <a:solidFill>
            <a:srgbClr val="B51F32"/>
          </a:solidFill>
          <a:ln w="0">
            <a:noFill/>
            <a:prstDash val="solid"/>
          </a:ln>
        </p:spPr>
      </p:sp>
      <p:sp>
        <p:nvSpPr>
          <p:cNvPr id="8" name="bullet-text-1">
            <a:extLst>
              <a:ext uri="{FF2B5EF4-FFF2-40B4-BE49-F238E27FC236}">
                <a16:creationId xmlns:a16="http://schemas.microsoft.com/office/drawing/2014/main" id="{018885D9-EF5F-4340-8368-D2B52CF0B79E}"/>
              </a:ext>
            </a:extLst>
          </p:cNvPr>
          <p:cNvSpPr>
            <a:spLocks noGrp="1"/>
          </p:cNvSpPr>
          <p:nvPr/>
        </p:nvSpPr>
        <p:spPr>
          <a:xfrm>
            <a:off x="2019852" y="2066163"/>
            <a:ext cx="3758870" cy="591490"/>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2 × ESP32 development boards</a:t>
            </a:r>
          </a:p>
        </p:txBody>
      </p:sp>
      <p:sp>
        <p:nvSpPr>
          <p:cNvPr id="9" name="bullet-2">
            <a:extLst>
              <a:ext uri="{FF2B5EF4-FFF2-40B4-BE49-F238E27FC236}">
                <a16:creationId xmlns:a16="http://schemas.microsoft.com/office/drawing/2014/main" id="{4E554D93-BF6D-4FBB-B0DD-FEB7D972C3D6}"/>
              </a:ext>
            </a:extLst>
          </p:cNvPr>
          <p:cNvSpPr>
            <a:spLocks noGrp="1"/>
          </p:cNvSpPr>
          <p:nvPr/>
        </p:nvSpPr>
        <p:spPr>
          <a:xfrm>
            <a:off x="1778851" y="2836877"/>
            <a:ext cx="86411" cy="64821"/>
          </a:xfrm>
          <a:prstGeom prst="rect">
            <a:avLst/>
          </a:prstGeom>
          <a:solidFill>
            <a:srgbClr val="B51F32"/>
          </a:solidFill>
          <a:ln w="0">
            <a:noFill/>
            <a:prstDash val="solid"/>
          </a:ln>
        </p:spPr>
      </p:sp>
      <p:sp>
        <p:nvSpPr>
          <p:cNvPr id="10" name="bullet-text-2">
            <a:extLst>
              <a:ext uri="{FF2B5EF4-FFF2-40B4-BE49-F238E27FC236}">
                <a16:creationId xmlns:a16="http://schemas.microsoft.com/office/drawing/2014/main" id="{4E575D47-4D54-4E40-BF9F-3C229C199AB7}"/>
              </a:ext>
            </a:extLst>
          </p:cNvPr>
          <p:cNvSpPr>
            <a:spLocks noGrp="1"/>
          </p:cNvSpPr>
          <p:nvPr/>
        </p:nvSpPr>
        <p:spPr>
          <a:xfrm>
            <a:off x="2019852" y="2690063"/>
            <a:ext cx="3758870" cy="591490"/>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2 × SX1278 / LoRa-02 433 MHz transceivers with antennas</a:t>
            </a:r>
          </a:p>
        </p:txBody>
      </p:sp>
      <p:sp>
        <p:nvSpPr>
          <p:cNvPr id="11" name="bullet-3">
            <a:extLst>
              <a:ext uri="{FF2B5EF4-FFF2-40B4-BE49-F238E27FC236}">
                <a16:creationId xmlns:a16="http://schemas.microsoft.com/office/drawing/2014/main" id="{96886872-8A28-47AA-98D4-026B8C110387}"/>
              </a:ext>
            </a:extLst>
          </p:cNvPr>
          <p:cNvSpPr>
            <a:spLocks noGrp="1"/>
          </p:cNvSpPr>
          <p:nvPr/>
        </p:nvSpPr>
        <p:spPr>
          <a:xfrm>
            <a:off x="1778850" y="3532733"/>
            <a:ext cx="86411" cy="64821"/>
          </a:xfrm>
          <a:prstGeom prst="rect">
            <a:avLst/>
          </a:prstGeom>
          <a:solidFill>
            <a:srgbClr val="B51F32"/>
          </a:solidFill>
          <a:ln w="0">
            <a:noFill/>
            <a:prstDash val="solid"/>
          </a:ln>
        </p:spPr>
      </p:sp>
      <p:sp>
        <p:nvSpPr>
          <p:cNvPr id="12" name="bullet-text-3">
            <a:extLst>
              <a:ext uri="{FF2B5EF4-FFF2-40B4-BE49-F238E27FC236}">
                <a16:creationId xmlns:a16="http://schemas.microsoft.com/office/drawing/2014/main" id="{2D959857-019C-4B37-830D-252A67739233}"/>
              </a:ext>
            </a:extLst>
          </p:cNvPr>
          <p:cNvSpPr>
            <a:spLocks noGrp="1"/>
          </p:cNvSpPr>
          <p:nvPr/>
        </p:nvSpPr>
        <p:spPr>
          <a:xfrm>
            <a:off x="2019852" y="3313963"/>
            <a:ext cx="3758870" cy="591490"/>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2 × Android smartphones with GPS and BLE</a:t>
            </a:r>
          </a:p>
        </p:txBody>
      </p:sp>
      <p:sp>
        <p:nvSpPr>
          <p:cNvPr id="13" name="bullet-4">
            <a:extLst>
              <a:ext uri="{FF2B5EF4-FFF2-40B4-BE49-F238E27FC236}">
                <a16:creationId xmlns:a16="http://schemas.microsoft.com/office/drawing/2014/main" id="{8BCED94E-6921-4882-9491-46A6C836A123}"/>
              </a:ext>
            </a:extLst>
          </p:cNvPr>
          <p:cNvSpPr>
            <a:spLocks noGrp="1"/>
          </p:cNvSpPr>
          <p:nvPr/>
        </p:nvSpPr>
        <p:spPr>
          <a:xfrm>
            <a:off x="1778849" y="4190012"/>
            <a:ext cx="86411" cy="64821"/>
          </a:xfrm>
          <a:prstGeom prst="rect">
            <a:avLst/>
          </a:prstGeom>
          <a:solidFill>
            <a:srgbClr val="B51F32"/>
          </a:solidFill>
          <a:ln w="0">
            <a:noFill/>
            <a:prstDash val="solid"/>
          </a:ln>
        </p:spPr>
      </p:sp>
      <p:sp>
        <p:nvSpPr>
          <p:cNvPr id="14" name="bullet-text-4">
            <a:extLst>
              <a:ext uri="{FF2B5EF4-FFF2-40B4-BE49-F238E27FC236}">
                <a16:creationId xmlns:a16="http://schemas.microsoft.com/office/drawing/2014/main" id="{2C5A2B95-D6D0-4105-80C9-8AFBA0576619}"/>
              </a:ext>
            </a:extLst>
          </p:cNvPr>
          <p:cNvSpPr>
            <a:spLocks noGrp="1"/>
          </p:cNvSpPr>
          <p:nvPr/>
        </p:nvSpPr>
        <p:spPr>
          <a:xfrm>
            <a:off x="2019852" y="3937864"/>
            <a:ext cx="3758870" cy="591490"/>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USB or suitable regulated power for each node</a:t>
            </a:r>
          </a:p>
        </p:txBody>
      </p:sp>
      <p:sp>
        <p:nvSpPr>
          <p:cNvPr id="15" name="software-head">
            <a:extLst>
              <a:ext uri="{FF2B5EF4-FFF2-40B4-BE49-F238E27FC236}">
                <a16:creationId xmlns:a16="http://schemas.microsoft.com/office/drawing/2014/main" id="{3D64D8BB-2C42-4CE4-A668-D361D0ABD5A9}"/>
              </a:ext>
            </a:extLst>
          </p:cNvPr>
          <p:cNvSpPr>
            <a:spLocks noGrp="1"/>
          </p:cNvSpPr>
          <p:nvPr/>
        </p:nvSpPr>
        <p:spPr>
          <a:xfrm>
            <a:off x="6102763" y="1701546"/>
            <a:ext cx="3888486" cy="283591"/>
          </a:xfrm>
          <a:prstGeom prst="rect">
            <a:avLst/>
          </a:prstGeom>
          <a:noFill/>
          <a:ln w="0">
            <a:noFill/>
            <a:prstDash val="solid"/>
          </a:ln>
        </p:spPr>
        <p:txBody>
          <a:bodyPr anchor="ctr">
            <a:normAutofit fontScale="81239" lnSpcReduction="10000"/>
          </a:bodyPr>
          <a:lstStyle/>
          <a:p>
            <a:pPr algn="l">
              <a:buNone/>
              <a:defRPr sz="1552" b="1">
                <a:solidFill>
                  <a:srgbClr val="B51F32"/>
                </a:solidFill>
                <a:latin typeface="Times New Roman"/>
                <a:ea typeface="Times New Roman"/>
                <a:cs typeface="Times New Roman"/>
              </a:defRPr>
            </a:pPr>
            <a:r>
              <a:rPr sz="1552" b="1">
                <a:solidFill>
                  <a:srgbClr val="B51F32"/>
                </a:solidFill>
                <a:latin typeface="Times New Roman"/>
                <a:ea typeface="Times New Roman"/>
                <a:cs typeface="Times New Roman"/>
              </a:rPr>
              <a:t>Software</a:t>
            </a:r>
          </a:p>
        </p:txBody>
      </p:sp>
      <p:sp>
        <p:nvSpPr>
          <p:cNvPr id="16" name="bullet-1">
            <a:extLst>
              <a:ext uri="{FF2B5EF4-FFF2-40B4-BE49-F238E27FC236}">
                <a16:creationId xmlns:a16="http://schemas.microsoft.com/office/drawing/2014/main" id="{896BA394-C258-4A36-AA71-96BDF5A3C7B0}"/>
              </a:ext>
            </a:extLst>
          </p:cNvPr>
          <p:cNvSpPr>
            <a:spLocks noGrp="1"/>
          </p:cNvSpPr>
          <p:nvPr/>
        </p:nvSpPr>
        <p:spPr>
          <a:xfrm>
            <a:off x="6083062" y="2328317"/>
            <a:ext cx="86411" cy="64821"/>
          </a:xfrm>
          <a:prstGeom prst="rect">
            <a:avLst/>
          </a:prstGeom>
          <a:solidFill>
            <a:srgbClr val="B51F32"/>
          </a:solidFill>
          <a:ln w="0">
            <a:noFill/>
            <a:prstDash val="solid"/>
          </a:ln>
        </p:spPr>
      </p:sp>
      <p:sp>
        <p:nvSpPr>
          <p:cNvPr id="17" name="bullet-text-1">
            <a:extLst>
              <a:ext uri="{FF2B5EF4-FFF2-40B4-BE49-F238E27FC236}">
                <a16:creationId xmlns:a16="http://schemas.microsoft.com/office/drawing/2014/main" id="{3C4D0000-336E-4AEA-9B3B-944C81D39C1B}"/>
              </a:ext>
            </a:extLst>
          </p:cNvPr>
          <p:cNvSpPr>
            <a:spLocks noGrp="1"/>
          </p:cNvSpPr>
          <p:nvPr/>
        </p:nvSpPr>
        <p:spPr>
          <a:xfrm>
            <a:off x="6340392" y="2066163"/>
            <a:ext cx="3650856" cy="591490"/>
          </a:xfrm>
          <a:prstGeom prst="rect">
            <a:avLst/>
          </a:prstGeom>
          <a:noFill/>
          <a:ln w="0">
            <a:noFill/>
            <a:prstDash val="solid"/>
          </a:ln>
        </p:spPr>
        <p:txBody>
          <a:bodyPr anchor="ctr">
            <a:normAutofit/>
          </a:bodyPr>
          <a:lstStyle/>
          <a:p>
            <a:pPr algn="l">
              <a:buNone/>
              <a:defRPr sz="1350" b="0">
                <a:solidFill>
                  <a:srgbClr val="202020"/>
                </a:solidFill>
                <a:latin typeface="Times New Roman"/>
                <a:ea typeface="Times New Roman"/>
                <a:cs typeface="Times New Roman"/>
              </a:defRPr>
            </a:pPr>
            <a:r>
              <a:rPr sz="1350" b="0">
                <a:solidFill>
                  <a:srgbClr val="202020"/>
                </a:solidFill>
                <a:latin typeface="Times New Roman"/>
                <a:ea typeface="Times New Roman"/>
                <a:cs typeface="Times New Roman"/>
              </a:rPr>
              <a:t>Android app built with Flutter</a:t>
            </a:r>
          </a:p>
        </p:txBody>
      </p:sp>
      <p:sp>
        <p:nvSpPr>
          <p:cNvPr id="18" name="bullet-2">
            <a:extLst>
              <a:ext uri="{FF2B5EF4-FFF2-40B4-BE49-F238E27FC236}">
                <a16:creationId xmlns:a16="http://schemas.microsoft.com/office/drawing/2014/main" id="{1F0DDBCC-55A3-49AD-B6DF-ECD98E67A4E1}"/>
              </a:ext>
            </a:extLst>
          </p:cNvPr>
          <p:cNvSpPr>
            <a:spLocks noGrp="1"/>
          </p:cNvSpPr>
          <p:nvPr/>
        </p:nvSpPr>
        <p:spPr>
          <a:xfrm>
            <a:off x="6083062" y="2942785"/>
            <a:ext cx="86411" cy="64821"/>
          </a:xfrm>
          <a:prstGeom prst="rect">
            <a:avLst/>
          </a:prstGeom>
          <a:solidFill>
            <a:srgbClr val="B51F32"/>
          </a:solidFill>
          <a:ln w="0">
            <a:noFill/>
            <a:prstDash val="solid"/>
          </a:ln>
        </p:spPr>
      </p:sp>
      <p:sp>
        <p:nvSpPr>
          <p:cNvPr id="19" name="bullet-text-2">
            <a:extLst>
              <a:ext uri="{FF2B5EF4-FFF2-40B4-BE49-F238E27FC236}">
                <a16:creationId xmlns:a16="http://schemas.microsoft.com/office/drawing/2014/main" id="{F584F36B-DEC2-4990-BE8F-6610B36FD2D3}"/>
              </a:ext>
            </a:extLst>
          </p:cNvPr>
          <p:cNvSpPr>
            <a:spLocks noGrp="1"/>
          </p:cNvSpPr>
          <p:nvPr/>
        </p:nvSpPr>
        <p:spPr>
          <a:xfrm>
            <a:off x="6340392" y="2690063"/>
            <a:ext cx="3650856" cy="591490"/>
          </a:xfrm>
          <a:prstGeom prst="rect">
            <a:avLst/>
          </a:prstGeom>
          <a:noFill/>
          <a:ln w="0">
            <a:noFill/>
            <a:prstDash val="solid"/>
          </a:ln>
        </p:spPr>
        <p:txBody>
          <a:bodyPr anchor="ctr">
            <a:normAutofit/>
          </a:bodyPr>
          <a:lstStyle/>
          <a:p>
            <a:pPr algn="l">
              <a:buNone/>
              <a:defRPr sz="1350" b="0">
                <a:solidFill>
                  <a:srgbClr val="202020"/>
                </a:solidFill>
                <a:latin typeface="Times New Roman"/>
                <a:ea typeface="Times New Roman"/>
                <a:cs typeface="Times New Roman"/>
              </a:defRPr>
            </a:pPr>
            <a:r>
              <a:rPr sz="1350" b="0">
                <a:solidFill>
                  <a:srgbClr val="202020"/>
                </a:solidFill>
                <a:latin typeface="Times New Roman"/>
                <a:ea typeface="Times New Roman"/>
                <a:cs typeface="Times New Roman"/>
              </a:rPr>
              <a:t>ESP32 firmware developed in Arduino IDE</a:t>
            </a:r>
          </a:p>
        </p:txBody>
      </p:sp>
      <p:sp>
        <p:nvSpPr>
          <p:cNvPr id="20" name="bullet-3">
            <a:extLst>
              <a:ext uri="{FF2B5EF4-FFF2-40B4-BE49-F238E27FC236}">
                <a16:creationId xmlns:a16="http://schemas.microsoft.com/office/drawing/2014/main" id="{B771673C-2C81-456C-A215-BA283AABA2A0}"/>
              </a:ext>
            </a:extLst>
          </p:cNvPr>
          <p:cNvSpPr>
            <a:spLocks noGrp="1"/>
          </p:cNvSpPr>
          <p:nvPr/>
        </p:nvSpPr>
        <p:spPr>
          <a:xfrm>
            <a:off x="6097361" y="3552657"/>
            <a:ext cx="86411" cy="64821"/>
          </a:xfrm>
          <a:prstGeom prst="rect">
            <a:avLst/>
          </a:prstGeom>
          <a:solidFill>
            <a:srgbClr val="B51F32"/>
          </a:solidFill>
          <a:ln w="0">
            <a:noFill/>
            <a:prstDash val="solid"/>
          </a:ln>
        </p:spPr>
      </p:sp>
      <p:sp>
        <p:nvSpPr>
          <p:cNvPr id="21" name="bullet-text-3">
            <a:extLst>
              <a:ext uri="{FF2B5EF4-FFF2-40B4-BE49-F238E27FC236}">
                <a16:creationId xmlns:a16="http://schemas.microsoft.com/office/drawing/2014/main" id="{8A136975-2068-4A29-A347-EF7EEB807CC1}"/>
              </a:ext>
            </a:extLst>
          </p:cNvPr>
          <p:cNvSpPr>
            <a:spLocks noGrp="1"/>
          </p:cNvSpPr>
          <p:nvPr/>
        </p:nvSpPr>
        <p:spPr>
          <a:xfrm>
            <a:off x="6340392" y="3313963"/>
            <a:ext cx="3650856" cy="591490"/>
          </a:xfrm>
          <a:prstGeom prst="rect">
            <a:avLst/>
          </a:prstGeom>
          <a:noFill/>
          <a:ln w="0">
            <a:noFill/>
            <a:prstDash val="solid"/>
          </a:ln>
        </p:spPr>
        <p:txBody>
          <a:bodyPr anchor="ctr">
            <a:normAutofit/>
          </a:bodyPr>
          <a:lstStyle/>
          <a:p>
            <a:pPr algn="l">
              <a:buNone/>
              <a:defRPr sz="1350" b="0">
                <a:solidFill>
                  <a:srgbClr val="202020"/>
                </a:solidFill>
                <a:latin typeface="Times New Roman"/>
                <a:ea typeface="Times New Roman"/>
                <a:cs typeface="Times New Roman"/>
              </a:defRPr>
            </a:pPr>
            <a:r>
              <a:rPr sz="1350" b="0">
                <a:solidFill>
                  <a:srgbClr val="202020"/>
                </a:solidFill>
                <a:latin typeface="Times New Roman"/>
                <a:ea typeface="Times New Roman"/>
                <a:cs typeface="Times New Roman"/>
              </a:rPr>
              <a:t>BLE for phone-to-node data exchange</a:t>
            </a:r>
          </a:p>
        </p:txBody>
      </p:sp>
      <p:sp>
        <p:nvSpPr>
          <p:cNvPr id="22" name="bullet-4">
            <a:extLst>
              <a:ext uri="{FF2B5EF4-FFF2-40B4-BE49-F238E27FC236}">
                <a16:creationId xmlns:a16="http://schemas.microsoft.com/office/drawing/2014/main" id="{5F51F6D1-8D57-460A-9D2C-DD7611F0895E}"/>
              </a:ext>
            </a:extLst>
          </p:cNvPr>
          <p:cNvSpPr>
            <a:spLocks noGrp="1"/>
          </p:cNvSpPr>
          <p:nvPr/>
        </p:nvSpPr>
        <p:spPr>
          <a:xfrm>
            <a:off x="6095575" y="4130118"/>
            <a:ext cx="86411" cy="64821"/>
          </a:xfrm>
          <a:prstGeom prst="rect">
            <a:avLst/>
          </a:prstGeom>
          <a:solidFill>
            <a:srgbClr val="B51F32"/>
          </a:solidFill>
          <a:ln w="0">
            <a:noFill/>
            <a:prstDash val="solid"/>
          </a:ln>
        </p:spPr>
      </p:sp>
      <p:sp>
        <p:nvSpPr>
          <p:cNvPr id="23" name="bullet-text-4">
            <a:extLst>
              <a:ext uri="{FF2B5EF4-FFF2-40B4-BE49-F238E27FC236}">
                <a16:creationId xmlns:a16="http://schemas.microsoft.com/office/drawing/2014/main" id="{2C86130E-A65B-4C95-95A4-F4F5D062BF45}"/>
              </a:ext>
            </a:extLst>
          </p:cNvPr>
          <p:cNvSpPr>
            <a:spLocks noGrp="1"/>
          </p:cNvSpPr>
          <p:nvPr/>
        </p:nvSpPr>
        <p:spPr>
          <a:xfrm>
            <a:off x="6340392" y="3937864"/>
            <a:ext cx="3650856" cy="591490"/>
          </a:xfrm>
          <a:prstGeom prst="rect">
            <a:avLst/>
          </a:prstGeom>
          <a:noFill/>
          <a:ln w="0">
            <a:noFill/>
            <a:prstDash val="solid"/>
          </a:ln>
        </p:spPr>
        <p:txBody>
          <a:bodyPr anchor="ctr">
            <a:normAutofit/>
          </a:bodyPr>
          <a:lstStyle/>
          <a:p>
            <a:pPr algn="l">
              <a:buNone/>
              <a:defRPr sz="1350" b="0">
                <a:solidFill>
                  <a:srgbClr val="202020"/>
                </a:solidFill>
                <a:latin typeface="Times New Roman"/>
                <a:ea typeface="Times New Roman"/>
                <a:cs typeface="Times New Roman"/>
              </a:defRPr>
            </a:pPr>
            <a:r>
              <a:rPr sz="1350" b="0">
                <a:solidFill>
                  <a:srgbClr val="202020"/>
                </a:solidFill>
                <a:latin typeface="Times New Roman"/>
                <a:ea typeface="Times New Roman"/>
                <a:cs typeface="Times New Roman"/>
              </a:rPr>
              <a:t>LoRa packet exchange; RSSI/SNR viewed during serial testing</a:t>
            </a:r>
          </a:p>
        </p:txBody>
      </p:sp>
      <p:sp>
        <p:nvSpPr>
          <p:cNvPr id="24" name="power-note">
            <a:extLst>
              <a:ext uri="{FF2B5EF4-FFF2-40B4-BE49-F238E27FC236}">
                <a16:creationId xmlns:a16="http://schemas.microsoft.com/office/drawing/2014/main" id="{F310CAD0-ABB5-42D4-B687-B3BDF114237F}"/>
              </a:ext>
            </a:extLst>
          </p:cNvPr>
          <p:cNvSpPr>
            <a:spLocks noGrp="1"/>
          </p:cNvSpPr>
          <p:nvPr/>
        </p:nvSpPr>
        <p:spPr>
          <a:xfrm>
            <a:off x="1782223" y="4885868"/>
            <a:ext cx="8209026" cy="324104"/>
          </a:xfrm>
          <a:prstGeom prst="rect">
            <a:avLst/>
          </a:prstGeom>
          <a:noFill/>
          <a:ln w="0">
            <a:noFill/>
            <a:prstDash val="solid"/>
          </a:ln>
        </p:spPr>
        <p:txBody>
          <a:bodyPr anchor="ctr">
            <a:normAutofit/>
          </a:bodyPr>
          <a:lstStyle/>
          <a:p>
            <a:pPr algn="l">
              <a:buNone/>
              <a:defRPr sz="1148" b="0">
                <a:solidFill>
                  <a:srgbClr val="4C4C4C"/>
                </a:solidFill>
                <a:latin typeface="Times New Roman"/>
                <a:ea typeface="Times New Roman"/>
                <a:cs typeface="Times New Roman"/>
              </a:defRPr>
            </a:pPr>
            <a:r>
              <a:rPr sz="1148" b="0">
                <a:solidFill>
                  <a:srgbClr val="4C4C4C"/>
                </a:solidFill>
                <a:latin typeface="Times New Roman"/>
                <a:ea typeface="Times New Roman"/>
                <a:cs typeface="Times New Roman"/>
              </a:rPr>
              <a:t>Use the supply voltage and antenna connection specified for each board/module.</a:t>
            </a:r>
          </a:p>
        </p:txBody>
      </p:sp>
    </p:spTree>
    <p:extLst>
      <p:ext uri="{BB962C8B-B14F-4D97-AF65-F5344CB8AC3E}">
        <p14:creationId xmlns:p14="http://schemas.microsoft.com/office/powerpoint/2010/main" val="110892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5C930FE1-CAD9-4FBF-B500-B5460B8CD075}"/>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822FEA94-6892-40CB-BEF3-D7CDEBE0C6D3}"/>
              </a:ext>
            </a:extLst>
          </p:cNvPr>
          <p:cNvSpPr>
            <a:spLocks noGrp="1"/>
          </p:cNvSpPr>
          <p:nvPr/>
        </p:nvSpPr>
        <p:spPr>
          <a:xfrm>
            <a:off x="2363341" y="1272108"/>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72ED2D18-1389-4E67-B0DB-81B005D05984}"/>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Circuit Diagram and Its Explanation</a:t>
            </a:r>
          </a:p>
        </p:txBody>
      </p:sp>
      <p:sp>
        <p:nvSpPr>
          <p:cNvPr id="5" name="page-number">
            <a:extLst>
              <a:ext uri="{FF2B5EF4-FFF2-40B4-BE49-F238E27FC236}">
                <a16:creationId xmlns:a16="http://schemas.microsoft.com/office/drawing/2014/main" id="{5B9CC151-8179-4ED5-A568-047B6B6E4FA3}"/>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11</a:t>
            </a:r>
          </a:p>
        </p:txBody>
      </p:sp>
      <p:sp>
        <p:nvSpPr>
          <p:cNvPr id="6" name="circuit-heading">
            <a:extLst>
              <a:ext uri="{FF2B5EF4-FFF2-40B4-BE49-F238E27FC236}">
                <a16:creationId xmlns:a16="http://schemas.microsoft.com/office/drawing/2014/main" id="{75B0027E-2C74-49CB-8A88-0B8A3C4F4ABB}"/>
              </a:ext>
            </a:extLst>
          </p:cNvPr>
          <p:cNvSpPr>
            <a:spLocks noGrp="1"/>
          </p:cNvSpPr>
          <p:nvPr/>
        </p:nvSpPr>
        <p:spPr>
          <a:xfrm>
            <a:off x="1782223" y="1701546"/>
            <a:ext cx="8533066" cy="307899"/>
          </a:xfrm>
          <a:prstGeom prst="rect">
            <a:avLst/>
          </a:prstGeom>
          <a:noFill/>
          <a:ln w="0">
            <a:noFill/>
            <a:prstDash val="solid"/>
          </a:ln>
        </p:spPr>
        <p:txBody>
          <a:bodyPr anchor="ctr">
            <a:normAutofit fontScale="95645"/>
          </a:bodyPr>
          <a:lstStyle/>
          <a:p>
            <a:pPr algn="ctr">
              <a:buNone/>
              <a:defRPr sz="1485" b="1">
                <a:solidFill>
                  <a:srgbClr val="25466C"/>
                </a:solidFill>
                <a:latin typeface="Times New Roman"/>
                <a:ea typeface="Times New Roman"/>
                <a:cs typeface="Times New Roman"/>
              </a:defRPr>
            </a:pPr>
            <a:r>
              <a:rPr sz="1485" b="1">
                <a:solidFill>
                  <a:srgbClr val="25466C"/>
                </a:solidFill>
                <a:latin typeface="Times New Roman"/>
                <a:ea typeface="Times New Roman"/>
                <a:cs typeface="Times New Roman"/>
              </a:rPr>
              <a:t>ESP32 ↔ SX1278 connection (repeat for both nodes)</a:t>
            </a:r>
          </a:p>
        </p:txBody>
      </p:sp>
      <p:sp>
        <p:nvSpPr>
          <p:cNvPr id="7" name="esp-block">
            <a:extLst>
              <a:ext uri="{FF2B5EF4-FFF2-40B4-BE49-F238E27FC236}">
                <a16:creationId xmlns:a16="http://schemas.microsoft.com/office/drawing/2014/main" id="{61980B6F-F9CC-496E-B325-DC5CEFE22A47}"/>
              </a:ext>
            </a:extLst>
          </p:cNvPr>
          <p:cNvSpPr>
            <a:spLocks noGrp="1"/>
          </p:cNvSpPr>
          <p:nvPr/>
        </p:nvSpPr>
        <p:spPr>
          <a:xfrm>
            <a:off x="2214277" y="2382164"/>
            <a:ext cx="2808351" cy="956107"/>
          </a:xfrm>
          <a:prstGeom prst="roundRect">
            <a:avLst>
              <a:gd name="adj" fmla="val 7970"/>
            </a:avLst>
          </a:prstGeom>
          <a:solidFill>
            <a:srgbClr val="EEF2F6"/>
          </a:solidFill>
          <a:ln w="14288">
            <a:solidFill>
              <a:srgbClr val="7D8A97"/>
            </a:solidFill>
            <a:prstDash val="solid"/>
          </a:ln>
        </p:spPr>
        <p:txBody>
          <a:bodyPr anchor="ctr">
            <a:normAutofit/>
          </a:bodyPr>
          <a:lstStyle/>
          <a:p>
            <a:pPr algn="ctr">
              <a:buNone/>
              <a:defRPr sz="1800" b="1">
                <a:solidFill>
                  <a:srgbClr val="202020"/>
                </a:solidFill>
                <a:latin typeface="Times New Roman"/>
                <a:ea typeface="Times New Roman"/>
                <a:cs typeface="Times New Roman"/>
              </a:defRPr>
            </a:pPr>
            <a:r>
              <a:rPr sz="1800" b="1">
                <a:solidFill>
                  <a:srgbClr val="202020"/>
                </a:solidFill>
                <a:latin typeface="Times New Roman"/>
                <a:ea typeface="Times New Roman"/>
                <a:cs typeface="Times New Roman"/>
              </a:rPr>
              <a:t>ESP32</a:t>
            </a:r>
          </a:p>
          <a:p>
            <a:pPr algn="ctr">
              <a:buNone/>
              <a:defRPr sz="1800" b="1">
                <a:solidFill>
                  <a:srgbClr val="202020"/>
                </a:solidFill>
                <a:latin typeface="Times New Roman"/>
                <a:ea typeface="Times New Roman"/>
                <a:cs typeface="Times New Roman"/>
              </a:defRPr>
            </a:pPr>
            <a:r>
              <a:rPr sz="1800" b="1">
                <a:solidFill>
                  <a:srgbClr val="202020"/>
                </a:solidFill>
                <a:latin typeface="Times New Roman"/>
                <a:ea typeface="Times New Roman"/>
                <a:cs typeface="Times New Roman"/>
              </a:rPr>
              <a:t>SPI + control pins</a:t>
            </a:r>
          </a:p>
        </p:txBody>
      </p:sp>
      <p:sp>
        <p:nvSpPr>
          <p:cNvPr id="8" name="lora-block">
            <a:extLst>
              <a:ext uri="{FF2B5EF4-FFF2-40B4-BE49-F238E27FC236}">
                <a16:creationId xmlns:a16="http://schemas.microsoft.com/office/drawing/2014/main" id="{3934BEA2-B268-4A40-A5D1-B2A8C8EE50D9}"/>
              </a:ext>
            </a:extLst>
          </p:cNvPr>
          <p:cNvSpPr>
            <a:spLocks noGrp="1"/>
          </p:cNvSpPr>
          <p:nvPr/>
        </p:nvSpPr>
        <p:spPr>
          <a:xfrm>
            <a:off x="6912864" y="2382164"/>
            <a:ext cx="2808351" cy="956107"/>
          </a:xfrm>
          <a:prstGeom prst="roundRect">
            <a:avLst>
              <a:gd name="adj" fmla="val 7970"/>
            </a:avLst>
          </a:prstGeom>
          <a:solidFill>
            <a:srgbClr val="FBE8EA"/>
          </a:solidFill>
          <a:ln w="14288">
            <a:solidFill>
              <a:srgbClr val="7D8A97"/>
            </a:solidFill>
            <a:prstDash val="solid"/>
          </a:ln>
        </p:spPr>
        <p:txBody>
          <a:bodyPr anchor="ctr">
            <a:normAutofit/>
          </a:bodyPr>
          <a:lstStyle/>
          <a:p>
            <a:pPr algn="ctr">
              <a:buNone/>
              <a:defRPr sz="1800" b="1">
                <a:solidFill>
                  <a:srgbClr val="202020"/>
                </a:solidFill>
                <a:latin typeface="Times New Roman"/>
                <a:ea typeface="Times New Roman"/>
                <a:cs typeface="Times New Roman"/>
              </a:defRPr>
            </a:pPr>
            <a:r>
              <a:rPr sz="1800" b="1">
                <a:solidFill>
                  <a:srgbClr val="202020"/>
                </a:solidFill>
                <a:latin typeface="Times New Roman"/>
                <a:ea typeface="Times New Roman"/>
                <a:cs typeface="Times New Roman"/>
              </a:rPr>
              <a:t>SX1278 LoRa module</a:t>
            </a:r>
          </a:p>
          <a:p>
            <a:pPr algn="ctr">
              <a:buNone/>
              <a:defRPr sz="1800" b="1">
                <a:solidFill>
                  <a:srgbClr val="202020"/>
                </a:solidFill>
                <a:latin typeface="Times New Roman"/>
                <a:ea typeface="Times New Roman"/>
                <a:cs typeface="Times New Roman"/>
              </a:defRPr>
            </a:pPr>
            <a:r>
              <a:rPr sz="1800" b="1">
                <a:solidFill>
                  <a:srgbClr val="202020"/>
                </a:solidFill>
                <a:latin typeface="Times New Roman"/>
                <a:ea typeface="Times New Roman"/>
                <a:cs typeface="Times New Roman"/>
              </a:rPr>
              <a:t>433 MHz</a:t>
            </a:r>
          </a:p>
        </p:txBody>
      </p:sp>
      <p:sp>
        <p:nvSpPr>
          <p:cNvPr id="9" name="spi-data-link">
            <a:extLst>
              <a:ext uri="{FF2B5EF4-FFF2-40B4-BE49-F238E27FC236}">
                <a16:creationId xmlns:a16="http://schemas.microsoft.com/office/drawing/2014/main" id="{8CD411B0-C11A-480E-A9E9-F5C9526004C3}"/>
              </a:ext>
            </a:extLst>
          </p:cNvPr>
          <p:cNvSpPr>
            <a:spLocks noGrp="1"/>
          </p:cNvSpPr>
          <p:nvPr/>
        </p:nvSpPr>
        <p:spPr>
          <a:xfrm>
            <a:off x="5130641" y="2738679"/>
            <a:ext cx="1620203" cy="194462"/>
          </a:xfrm>
          <a:prstGeom prst="leftRightArrow">
            <a:avLst/>
          </a:prstGeom>
          <a:solidFill>
            <a:srgbClr val="25466C"/>
          </a:solidFill>
          <a:ln w="0">
            <a:noFill/>
            <a:prstDash val="solid"/>
          </a:ln>
        </p:spPr>
      </p:sp>
      <p:sp>
        <p:nvSpPr>
          <p:cNvPr id="10" name="pin-map">
            <a:extLst>
              <a:ext uri="{FF2B5EF4-FFF2-40B4-BE49-F238E27FC236}">
                <a16:creationId xmlns:a16="http://schemas.microsoft.com/office/drawing/2014/main" id="{55E00CA7-6969-49DD-BDDF-3E4A58E95796}"/>
              </a:ext>
            </a:extLst>
          </p:cNvPr>
          <p:cNvSpPr>
            <a:spLocks noGrp="1"/>
          </p:cNvSpPr>
          <p:nvPr/>
        </p:nvSpPr>
        <p:spPr>
          <a:xfrm>
            <a:off x="2052256" y="3646170"/>
            <a:ext cx="8209026" cy="1134364"/>
          </a:xfrm>
          <a:prstGeom prst="rect">
            <a:avLst/>
          </a:prstGeom>
          <a:noFill/>
          <a:ln w="0">
            <a:noFill/>
            <a:prstDash val="solid"/>
          </a:ln>
        </p:spPr>
        <p:txBody>
          <a:bodyPr anchor="ctr">
            <a:normAutofit/>
          </a:bodyPr>
          <a:lstStyle/>
          <a:p>
            <a:pPr algn="ctr">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SPI / control wiring used in the firmware</a:t>
            </a:r>
          </a:p>
          <a:p>
            <a:pPr algn="ctr">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SCK GPIO 14  |  MISO GPIO 12  |  MOSI GPIO 13</a:t>
            </a:r>
          </a:p>
          <a:p>
            <a:pPr algn="ctr">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CS GPIO 15  |  RESET GPIO 27  |  DIO0 GPIO 26</a:t>
            </a:r>
          </a:p>
          <a:p>
            <a:pPr algn="ctr">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Power and ground must match the specific module board.</a:t>
            </a:r>
          </a:p>
        </p:txBody>
      </p:sp>
      <p:sp>
        <p:nvSpPr>
          <p:cNvPr id="11" name="circuit-note">
            <a:extLst>
              <a:ext uri="{FF2B5EF4-FFF2-40B4-BE49-F238E27FC236}">
                <a16:creationId xmlns:a16="http://schemas.microsoft.com/office/drawing/2014/main" id="{09B19673-0FFE-4BCF-A84B-56652A5316F6}"/>
              </a:ext>
            </a:extLst>
          </p:cNvPr>
          <p:cNvSpPr>
            <a:spLocks noGrp="1"/>
          </p:cNvSpPr>
          <p:nvPr/>
        </p:nvSpPr>
        <p:spPr>
          <a:xfrm>
            <a:off x="2052256" y="5023612"/>
            <a:ext cx="8209026" cy="340309"/>
          </a:xfrm>
          <a:prstGeom prst="rect">
            <a:avLst/>
          </a:prstGeom>
          <a:noFill/>
          <a:ln w="0">
            <a:noFill/>
            <a:prstDash val="solid"/>
          </a:ln>
        </p:spPr>
        <p:txBody>
          <a:bodyPr anchor="ctr">
            <a:normAutofit/>
          </a:bodyPr>
          <a:lstStyle/>
          <a:p>
            <a:pPr algn="ctr">
              <a:buNone/>
              <a:defRPr sz="1215" b="0">
                <a:solidFill>
                  <a:srgbClr val="4C4C4C"/>
                </a:solidFill>
                <a:latin typeface="Times New Roman"/>
                <a:ea typeface="Times New Roman"/>
                <a:cs typeface="Times New Roman"/>
              </a:defRPr>
            </a:pPr>
            <a:r>
              <a:rPr sz="1215" b="0">
                <a:solidFill>
                  <a:srgbClr val="4C4C4C"/>
                </a:solidFill>
                <a:latin typeface="Times New Roman"/>
                <a:ea typeface="Times New Roman"/>
                <a:cs typeface="Times New Roman"/>
              </a:rPr>
              <a:t>The phone communicates with ESP32 over BLE, so no wired phone connection is required.</a:t>
            </a:r>
          </a:p>
        </p:txBody>
      </p:sp>
    </p:spTree>
    <p:extLst>
      <p:ext uri="{BB962C8B-B14F-4D97-AF65-F5344CB8AC3E}">
        <p14:creationId xmlns:p14="http://schemas.microsoft.com/office/powerpoint/2010/main" val="496100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29A77BFF-B1AF-41D8-947C-E3871D67AFED}"/>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2B1B465B-3160-4EAA-9B25-B5A8D417F8E3}"/>
              </a:ext>
            </a:extLst>
          </p:cNvPr>
          <p:cNvSpPr>
            <a:spLocks noGrp="1"/>
          </p:cNvSpPr>
          <p:nvPr/>
        </p:nvSpPr>
        <p:spPr>
          <a:xfrm>
            <a:off x="2363340" y="1288745"/>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D57B41BF-0D46-42CC-A89A-50EC58D61D06}"/>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Project Implementation with Steps and Flow Diagram</a:t>
            </a:r>
          </a:p>
        </p:txBody>
      </p:sp>
      <p:sp>
        <p:nvSpPr>
          <p:cNvPr id="5" name="page-number">
            <a:extLst>
              <a:ext uri="{FF2B5EF4-FFF2-40B4-BE49-F238E27FC236}">
                <a16:creationId xmlns:a16="http://schemas.microsoft.com/office/drawing/2014/main" id="{884FD01B-0BB3-4697-9606-C633258C9A22}"/>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12</a:t>
            </a:r>
          </a:p>
        </p:txBody>
      </p:sp>
      <p:sp>
        <p:nvSpPr>
          <p:cNvPr id="6" name="flow-1">
            <a:extLst>
              <a:ext uri="{FF2B5EF4-FFF2-40B4-BE49-F238E27FC236}">
                <a16:creationId xmlns:a16="http://schemas.microsoft.com/office/drawing/2014/main" id="{9ECF1A50-649E-47E3-A3D6-BF72E827FD6E}"/>
              </a:ext>
            </a:extLst>
          </p:cNvPr>
          <p:cNvSpPr>
            <a:spLocks noGrp="1"/>
          </p:cNvSpPr>
          <p:nvPr/>
        </p:nvSpPr>
        <p:spPr>
          <a:xfrm>
            <a:off x="1566196" y="2284933"/>
            <a:ext cx="1512189" cy="810260"/>
          </a:xfrm>
          <a:prstGeom prst="roundRect">
            <a:avLst>
              <a:gd name="adj" fmla="val 9404"/>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Read phone GPS</a:t>
            </a:r>
          </a:p>
        </p:txBody>
      </p:sp>
      <p:sp>
        <p:nvSpPr>
          <p:cNvPr id="7" name="flow-2">
            <a:extLst>
              <a:ext uri="{FF2B5EF4-FFF2-40B4-BE49-F238E27FC236}">
                <a16:creationId xmlns:a16="http://schemas.microsoft.com/office/drawing/2014/main" id="{7ED34112-C422-45EE-9956-FB619B439772}"/>
              </a:ext>
            </a:extLst>
          </p:cNvPr>
          <p:cNvSpPr>
            <a:spLocks noGrp="1"/>
          </p:cNvSpPr>
          <p:nvPr/>
        </p:nvSpPr>
        <p:spPr>
          <a:xfrm>
            <a:off x="3348418" y="2284933"/>
            <a:ext cx="1512189" cy="810260"/>
          </a:xfrm>
          <a:prstGeom prst="roundRect">
            <a:avLst>
              <a:gd name="adj" fmla="val 9404"/>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Send over BLE</a:t>
            </a:r>
          </a:p>
        </p:txBody>
      </p:sp>
      <p:sp>
        <p:nvSpPr>
          <p:cNvPr id="8" name="flow-3">
            <a:extLst>
              <a:ext uri="{FF2B5EF4-FFF2-40B4-BE49-F238E27FC236}">
                <a16:creationId xmlns:a16="http://schemas.microsoft.com/office/drawing/2014/main" id="{8F17E133-A86A-4884-B6D1-47674E50615B}"/>
              </a:ext>
            </a:extLst>
          </p:cNvPr>
          <p:cNvSpPr>
            <a:spLocks noGrp="1"/>
          </p:cNvSpPr>
          <p:nvPr/>
        </p:nvSpPr>
        <p:spPr>
          <a:xfrm>
            <a:off x="5130641" y="2284933"/>
            <a:ext cx="1512189" cy="810260"/>
          </a:xfrm>
          <a:prstGeom prst="roundRect">
            <a:avLst>
              <a:gd name="adj" fmla="val 9404"/>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ESP32 builds packet</a:t>
            </a:r>
          </a:p>
        </p:txBody>
      </p:sp>
      <p:sp>
        <p:nvSpPr>
          <p:cNvPr id="9" name="flow-4">
            <a:extLst>
              <a:ext uri="{FF2B5EF4-FFF2-40B4-BE49-F238E27FC236}">
                <a16:creationId xmlns:a16="http://schemas.microsoft.com/office/drawing/2014/main" id="{CC7007FF-D5FB-4247-B453-C6DFB267F1BC}"/>
              </a:ext>
            </a:extLst>
          </p:cNvPr>
          <p:cNvSpPr>
            <a:spLocks noGrp="1"/>
          </p:cNvSpPr>
          <p:nvPr/>
        </p:nvSpPr>
        <p:spPr>
          <a:xfrm>
            <a:off x="6912864" y="2284933"/>
            <a:ext cx="1512189" cy="810260"/>
          </a:xfrm>
          <a:prstGeom prst="roundRect">
            <a:avLst>
              <a:gd name="adj" fmla="val 9404"/>
            </a:avLst>
          </a:prstGeom>
          <a:solidFill>
            <a:srgbClr val="FBE8EA"/>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LoRa transmits</a:t>
            </a:r>
          </a:p>
        </p:txBody>
      </p:sp>
      <p:sp>
        <p:nvSpPr>
          <p:cNvPr id="10" name="flow-5">
            <a:extLst>
              <a:ext uri="{FF2B5EF4-FFF2-40B4-BE49-F238E27FC236}">
                <a16:creationId xmlns:a16="http://schemas.microsoft.com/office/drawing/2014/main" id="{673D10EE-E0B1-4B93-A49A-FF69DB358E06}"/>
              </a:ext>
            </a:extLst>
          </p:cNvPr>
          <p:cNvSpPr>
            <a:spLocks noGrp="1"/>
          </p:cNvSpPr>
          <p:nvPr/>
        </p:nvSpPr>
        <p:spPr>
          <a:xfrm>
            <a:off x="8695087" y="2284933"/>
            <a:ext cx="1512189" cy="810260"/>
          </a:xfrm>
          <a:prstGeom prst="roundRect">
            <a:avLst>
              <a:gd name="adj" fmla="val 9404"/>
            </a:avLst>
          </a:prstGeom>
          <a:solidFill>
            <a:srgbClr val="EEF2F6"/>
          </a:solidFill>
          <a:ln w="14288">
            <a:solidFill>
              <a:srgbClr val="7D8A97"/>
            </a:solidFill>
            <a:prstDash val="solid"/>
          </a:ln>
        </p:spPr>
        <p:txBody>
          <a:bodyPr anchor="ctr">
            <a:normAutofit/>
          </a:bodyPr>
          <a:lstStyle/>
          <a:p>
            <a:pPr algn="ctr">
              <a:buNone/>
              <a:defRPr sz="1425" b="1">
                <a:solidFill>
                  <a:srgbClr val="202020"/>
                </a:solidFill>
                <a:latin typeface="Times New Roman"/>
                <a:ea typeface="Times New Roman"/>
                <a:cs typeface="Times New Roman"/>
              </a:defRPr>
            </a:pPr>
            <a:r>
              <a:rPr sz="1425" b="1">
                <a:solidFill>
                  <a:srgbClr val="202020"/>
                </a:solidFill>
                <a:latin typeface="Times New Roman"/>
                <a:ea typeface="Times New Roman"/>
                <a:cs typeface="Times New Roman"/>
              </a:rPr>
              <a:t>Peer forwards to app</a:t>
            </a:r>
          </a:p>
        </p:txBody>
      </p:sp>
      <p:sp>
        <p:nvSpPr>
          <p:cNvPr id="11" name="flow-arrow-1">
            <a:extLst>
              <a:ext uri="{FF2B5EF4-FFF2-40B4-BE49-F238E27FC236}">
                <a16:creationId xmlns:a16="http://schemas.microsoft.com/office/drawing/2014/main" id="{9359B92F-91F3-401F-81EE-D640D20868B0}"/>
              </a:ext>
            </a:extLst>
          </p:cNvPr>
          <p:cNvSpPr>
            <a:spLocks noGrp="1"/>
          </p:cNvSpPr>
          <p:nvPr/>
        </p:nvSpPr>
        <p:spPr>
          <a:xfrm>
            <a:off x="3067583" y="2600935"/>
            <a:ext cx="302438" cy="178257"/>
          </a:xfrm>
          <a:prstGeom prst="rightArrow">
            <a:avLst/>
          </a:prstGeom>
          <a:solidFill>
            <a:srgbClr val="25466C"/>
          </a:solidFill>
          <a:ln w="0">
            <a:noFill/>
            <a:prstDash val="solid"/>
          </a:ln>
        </p:spPr>
      </p:sp>
      <p:sp>
        <p:nvSpPr>
          <p:cNvPr id="12" name="flow-arrow-2">
            <a:extLst>
              <a:ext uri="{FF2B5EF4-FFF2-40B4-BE49-F238E27FC236}">
                <a16:creationId xmlns:a16="http://schemas.microsoft.com/office/drawing/2014/main" id="{B64B1C64-6996-4B06-A581-D95A755A9CF7}"/>
              </a:ext>
            </a:extLst>
          </p:cNvPr>
          <p:cNvSpPr>
            <a:spLocks noGrp="1"/>
          </p:cNvSpPr>
          <p:nvPr/>
        </p:nvSpPr>
        <p:spPr>
          <a:xfrm>
            <a:off x="4849806" y="2600935"/>
            <a:ext cx="302438" cy="178257"/>
          </a:xfrm>
          <a:prstGeom prst="rightArrow">
            <a:avLst/>
          </a:prstGeom>
          <a:solidFill>
            <a:srgbClr val="25466C"/>
          </a:solidFill>
          <a:ln w="0">
            <a:noFill/>
            <a:prstDash val="solid"/>
          </a:ln>
        </p:spPr>
      </p:sp>
      <p:sp>
        <p:nvSpPr>
          <p:cNvPr id="13" name="flow-arrow-3">
            <a:extLst>
              <a:ext uri="{FF2B5EF4-FFF2-40B4-BE49-F238E27FC236}">
                <a16:creationId xmlns:a16="http://schemas.microsoft.com/office/drawing/2014/main" id="{7696BF4D-57F2-4811-9A27-A9A49F433751}"/>
              </a:ext>
            </a:extLst>
          </p:cNvPr>
          <p:cNvSpPr>
            <a:spLocks noGrp="1"/>
          </p:cNvSpPr>
          <p:nvPr/>
        </p:nvSpPr>
        <p:spPr>
          <a:xfrm>
            <a:off x="6632029" y="2600935"/>
            <a:ext cx="302438" cy="178257"/>
          </a:xfrm>
          <a:prstGeom prst="rightArrow">
            <a:avLst/>
          </a:prstGeom>
          <a:solidFill>
            <a:srgbClr val="25466C"/>
          </a:solidFill>
          <a:ln w="0">
            <a:noFill/>
            <a:prstDash val="solid"/>
          </a:ln>
        </p:spPr>
      </p:sp>
      <p:sp>
        <p:nvSpPr>
          <p:cNvPr id="14" name="flow-arrow-4">
            <a:extLst>
              <a:ext uri="{FF2B5EF4-FFF2-40B4-BE49-F238E27FC236}">
                <a16:creationId xmlns:a16="http://schemas.microsoft.com/office/drawing/2014/main" id="{FD76D331-2F61-4359-A38A-5FD2F8D03FC2}"/>
              </a:ext>
            </a:extLst>
          </p:cNvPr>
          <p:cNvSpPr>
            <a:spLocks noGrp="1"/>
          </p:cNvSpPr>
          <p:nvPr/>
        </p:nvSpPr>
        <p:spPr>
          <a:xfrm>
            <a:off x="8414252" y="2600935"/>
            <a:ext cx="302438" cy="178257"/>
          </a:xfrm>
          <a:prstGeom prst="rightArrow">
            <a:avLst/>
          </a:prstGeom>
          <a:solidFill>
            <a:srgbClr val="25466C"/>
          </a:solidFill>
          <a:ln w="0">
            <a:noFill/>
            <a:prstDash val="solid"/>
          </a:ln>
        </p:spPr>
      </p:sp>
      <p:sp>
        <p:nvSpPr>
          <p:cNvPr id="15" name="method-1">
            <a:extLst>
              <a:ext uri="{FF2B5EF4-FFF2-40B4-BE49-F238E27FC236}">
                <a16:creationId xmlns:a16="http://schemas.microsoft.com/office/drawing/2014/main" id="{7E0DF0BD-038A-440E-88DE-69544F4FBBF9}"/>
              </a:ext>
            </a:extLst>
          </p:cNvPr>
          <p:cNvSpPr>
            <a:spLocks noGrp="1"/>
          </p:cNvSpPr>
          <p:nvPr/>
        </p:nvSpPr>
        <p:spPr>
          <a:xfrm>
            <a:off x="1782223" y="3565144"/>
            <a:ext cx="8425053" cy="340309"/>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1  Pair each phone with its ESP32 over BLE.</a:t>
            </a:r>
          </a:p>
        </p:txBody>
      </p:sp>
      <p:sp>
        <p:nvSpPr>
          <p:cNvPr id="16" name="method-2">
            <a:extLst>
              <a:ext uri="{FF2B5EF4-FFF2-40B4-BE49-F238E27FC236}">
                <a16:creationId xmlns:a16="http://schemas.microsoft.com/office/drawing/2014/main" id="{4E8D1E42-A121-4C4C-8FD7-A040C5653975}"/>
              </a:ext>
            </a:extLst>
          </p:cNvPr>
          <p:cNvSpPr>
            <a:spLocks noGrp="1"/>
          </p:cNvSpPr>
          <p:nvPr/>
        </p:nvSpPr>
        <p:spPr>
          <a:xfrm>
            <a:off x="1782223" y="3970274"/>
            <a:ext cx="8425053" cy="340309"/>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2  Read latitude, longitude and location fields from smartphone GPS.</a:t>
            </a:r>
          </a:p>
        </p:txBody>
      </p:sp>
      <p:sp>
        <p:nvSpPr>
          <p:cNvPr id="17" name="method-3">
            <a:extLst>
              <a:ext uri="{FF2B5EF4-FFF2-40B4-BE49-F238E27FC236}">
                <a16:creationId xmlns:a16="http://schemas.microsoft.com/office/drawing/2014/main" id="{99DF1534-AF55-4C16-8BEB-8D4417CA12D6}"/>
              </a:ext>
            </a:extLst>
          </p:cNvPr>
          <p:cNvSpPr>
            <a:spLocks noGrp="1"/>
          </p:cNvSpPr>
          <p:nvPr/>
        </p:nvSpPr>
        <p:spPr>
          <a:xfrm>
            <a:off x="1782223" y="4375404"/>
            <a:ext cx="8425053" cy="486156"/>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3  Send a location packet over LoRa, receive it on the other node, then update the paired app.</a:t>
            </a:r>
          </a:p>
        </p:txBody>
      </p:sp>
      <p:sp>
        <p:nvSpPr>
          <p:cNvPr id="18" name="method-4">
            <a:extLst>
              <a:ext uri="{FF2B5EF4-FFF2-40B4-BE49-F238E27FC236}">
                <a16:creationId xmlns:a16="http://schemas.microsoft.com/office/drawing/2014/main" id="{96BC7DB4-7000-42C0-A4CE-03B08B598EF7}"/>
              </a:ext>
            </a:extLst>
          </p:cNvPr>
          <p:cNvSpPr>
            <a:spLocks noGrp="1"/>
          </p:cNvSpPr>
          <p:nvPr/>
        </p:nvSpPr>
        <p:spPr>
          <a:xfrm>
            <a:off x="1782223" y="4942586"/>
            <a:ext cx="8425053" cy="340309"/>
          </a:xfrm>
          <a:prstGeom prst="rect">
            <a:avLst/>
          </a:prstGeom>
          <a:noFill/>
          <a:ln w="0">
            <a:noFill/>
            <a:prstDash val="solid"/>
          </a:ln>
        </p:spPr>
        <p:txBody>
          <a:bodyPr anchor="ctr">
            <a:normAutofit/>
          </a:bodyPr>
          <a:lstStyle/>
          <a:p>
            <a:pPr algn="l">
              <a:buNone/>
              <a:defRPr sz="1418" b="0">
                <a:solidFill>
                  <a:srgbClr val="202020"/>
                </a:solidFill>
                <a:latin typeface="Times New Roman"/>
                <a:ea typeface="Times New Roman"/>
                <a:cs typeface="Times New Roman"/>
              </a:defRPr>
            </a:pPr>
            <a:r>
              <a:rPr sz="1418" b="0">
                <a:solidFill>
                  <a:srgbClr val="202020"/>
                </a:solidFill>
                <a:latin typeface="Times New Roman"/>
                <a:ea typeface="Times New Roman"/>
                <a:cs typeface="Times New Roman"/>
              </a:rPr>
              <a:t>4  Repeat in both directions and inspect received packets plus RSSI/SNR during testing.</a:t>
            </a:r>
          </a:p>
        </p:txBody>
      </p:sp>
    </p:spTree>
    <p:extLst>
      <p:ext uri="{BB962C8B-B14F-4D97-AF65-F5344CB8AC3E}">
        <p14:creationId xmlns:p14="http://schemas.microsoft.com/office/powerpoint/2010/main" val="2030992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0F92F157-6CE5-4E7A-9A55-491E5F7D2645}"/>
              </a:ext>
            </a:extLst>
          </p:cNvPr>
          <p:cNvSpPr>
            <a:spLocks noGrp="1"/>
          </p:cNvSpPr>
          <p:nvPr/>
        </p:nvSpPr>
        <p:spPr>
          <a:xfrm>
            <a:off x="1574837" y="1211339"/>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83A48F80-56F8-4FB2-BA4D-DAF33D60641A}"/>
              </a:ext>
            </a:extLst>
          </p:cNvPr>
          <p:cNvSpPr>
            <a:spLocks noGrp="1"/>
          </p:cNvSpPr>
          <p:nvPr/>
        </p:nvSpPr>
        <p:spPr>
          <a:xfrm>
            <a:off x="2423688" y="1276160"/>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39187D55-F1FC-42FB-B3A6-05DC83B93F37}"/>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System Design Idea and Current Progress</a:t>
            </a:r>
          </a:p>
        </p:txBody>
      </p:sp>
      <p:sp>
        <p:nvSpPr>
          <p:cNvPr id="5" name="page-number">
            <a:extLst>
              <a:ext uri="{FF2B5EF4-FFF2-40B4-BE49-F238E27FC236}">
                <a16:creationId xmlns:a16="http://schemas.microsoft.com/office/drawing/2014/main" id="{39C1CD68-D32A-4CFD-82D0-6326F4491988}"/>
              </a:ext>
            </a:extLst>
          </p:cNvPr>
          <p:cNvSpPr>
            <a:spLocks noGrp="1"/>
          </p:cNvSpPr>
          <p:nvPr/>
        </p:nvSpPr>
        <p:spPr>
          <a:xfrm>
            <a:off x="10261283" y="5752846"/>
            <a:ext cx="324040" cy="162052"/>
          </a:xfrm>
          <a:prstGeom prst="rect">
            <a:avLst/>
          </a:prstGeom>
          <a:noFill/>
          <a:ln w="0">
            <a:noFill/>
            <a:prstDash val="solid"/>
          </a:ln>
        </p:spPr>
        <p:txBody>
          <a:bodyPr anchor="ctr">
            <a:normAutofit fontScale="52771" lnSpcReduction="1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18</a:t>
            </a:r>
          </a:p>
        </p:txBody>
      </p:sp>
      <p:pic>
        <p:nvPicPr>
          <p:cNvPr id="26" name="Picture 25"/>
          <p:cNvPicPr>
            <a:picLocks noChangeAspect="1"/>
          </p:cNvPicPr>
          <p:nvPr/>
        </p:nvPicPr>
        <p:blipFill>
          <a:blip r:embed="rId4"/>
          <a:stretch/>
        </p:blipFill>
        <p:spPr>
          <a:xfrm>
            <a:off x="2203304" y="1661033"/>
            <a:ext cx="1750162" cy="3889248"/>
          </a:xfrm>
          <a:prstGeom prst="rect">
            <a:avLst/>
          </a:prstGeom>
        </p:spPr>
      </p:pic>
      <p:sp>
        <p:nvSpPr>
          <p:cNvPr id="7" name="design-head">
            <a:extLst>
              <a:ext uri="{FF2B5EF4-FFF2-40B4-BE49-F238E27FC236}">
                <a16:creationId xmlns:a16="http://schemas.microsoft.com/office/drawing/2014/main" id="{FA4358BB-6F5A-410E-8A27-002DB603DEF2}"/>
              </a:ext>
            </a:extLst>
          </p:cNvPr>
          <p:cNvSpPr>
            <a:spLocks noGrp="1"/>
          </p:cNvSpPr>
          <p:nvPr/>
        </p:nvSpPr>
        <p:spPr>
          <a:xfrm>
            <a:off x="4752594" y="1823085"/>
            <a:ext cx="5076634" cy="324104"/>
          </a:xfrm>
          <a:prstGeom prst="rect">
            <a:avLst/>
          </a:prstGeom>
          <a:noFill/>
          <a:ln w="0">
            <a:noFill/>
            <a:prstDash val="solid"/>
          </a:ln>
        </p:spPr>
        <p:txBody>
          <a:bodyPr anchor="ctr">
            <a:normAutofit fontScale="94239"/>
          </a:bodyPr>
          <a:lstStyle/>
          <a:p>
            <a:pPr algn="l">
              <a:buNone/>
              <a:defRPr sz="1620" b="1">
                <a:solidFill>
                  <a:srgbClr val="B51F32"/>
                </a:solidFill>
                <a:latin typeface="Times New Roman"/>
                <a:ea typeface="Times New Roman"/>
                <a:cs typeface="Times New Roman"/>
              </a:defRPr>
            </a:pPr>
            <a:r>
              <a:rPr sz="1620" b="1">
                <a:solidFill>
                  <a:srgbClr val="B51F32"/>
                </a:solidFill>
                <a:latin typeface="Times New Roman"/>
                <a:ea typeface="Times New Roman"/>
                <a:cs typeface="Times New Roman"/>
              </a:rPr>
              <a:t>Current app and data flow</a:t>
            </a:r>
          </a:p>
        </p:txBody>
      </p:sp>
      <p:sp>
        <p:nvSpPr>
          <p:cNvPr id="8" name="bullet-1">
            <a:extLst>
              <a:ext uri="{FF2B5EF4-FFF2-40B4-BE49-F238E27FC236}">
                <a16:creationId xmlns:a16="http://schemas.microsoft.com/office/drawing/2014/main" id="{6E33D7DC-B879-4EFC-9F2F-495434699B00}"/>
              </a:ext>
            </a:extLst>
          </p:cNvPr>
          <p:cNvSpPr>
            <a:spLocks noGrp="1"/>
          </p:cNvSpPr>
          <p:nvPr/>
        </p:nvSpPr>
        <p:spPr>
          <a:xfrm>
            <a:off x="4752594" y="2422677"/>
            <a:ext cx="86411" cy="64821"/>
          </a:xfrm>
          <a:prstGeom prst="rect">
            <a:avLst/>
          </a:prstGeom>
          <a:solidFill>
            <a:srgbClr val="B51F32"/>
          </a:solidFill>
          <a:ln w="0">
            <a:noFill/>
            <a:prstDash val="solid"/>
          </a:ln>
        </p:spPr>
      </p:sp>
      <p:sp>
        <p:nvSpPr>
          <p:cNvPr id="9" name="bullet-text-1">
            <a:extLst>
              <a:ext uri="{FF2B5EF4-FFF2-40B4-BE49-F238E27FC236}">
                <a16:creationId xmlns:a16="http://schemas.microsoft.com/office/drawing/2014/main" id="{D60BF667-4E1A-460C-98CA-3D6149F15A5A}"/>
              </a:ext>
            </a:extLst>
          </p:cNvPr>
          <p:cNvSpPr>
            <a:spLocks noGrp="1"/>
          </p:cNvSpPr>
          <p:nvPr/>
        </p:nvSpPr>
        <p:spPr>
          <a:xfrm>
            <a:off x="4990224" y="2309241"/>
            <a:ext cx="4947018"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Phone GPS supplies latitude, longitude, accuracy, altitude and speed.</a:t>
            </a:r>
          </a:p>
        </p:txBody>
      </p:sp>
      <p:sp>
        <p:nvSpPr>
          <p:cNvPr id="10" name="bullet-2">
            <a:extLst>
              <a:ext uri="{FF2B5EF4-FFF2-40B4-BE49-F238E27FC236}">
                <a16:creationId xmlns:a16="http://schemas.microsoft.com/office/drawing/2014/main" id="{8410C391-A4BA-430A-B50F-1DDD44E0DC9F}"/>
              </a:ext>
            </a:extLst>
          </p:cNvPr>
          <p:cNvSpPr>
            <a:spLocks noGrp="1"/>
          </p:cNvSpPr>
          <p:nvPr/>
        </p:nvSpPr>
        <p:spPr>
          <a:xfrm>
            <a:off x="4752594" y="3135706"/>
            <a:ext cx="86411" cy="64821"/>
          </a:xfrm>
          <a:prstGeom prst="rect">
            <a:avLst/>
          </a:prstGeom>
          <a:solidFill>
            <a:srgbClr val="B51F32"/>
          </a:solidFill>
          <a:ln w="0">
            <a:noFill/>
            <a:prstDash val="solid"/>
          </a:ln>
        </p:spPr>
      </p:sp>
      <p:sp>
        <p:nvSpPr>
          <p:cNvPr id="11" name="bullet-text-2">
            <a:extLst>
              <a:ext uri="{FF2B5EF4-FFF2-40B4-BE49-F238E27FC236}">
                <a16:creationId xmlns:a16="http://schemas.microsoft.com/office/drawing/2014/main" id="{E788AE9F-1DB5-43A6-97AB-22D40565B74E}"/>
              </a:ext>
            </a:extLst>
          </p:cNvPr>
          <p:cNvSpPr>
            <a:spLocks noGrp="1"/>
          </p:cNvSpPr>
          <p:nvPr/>
        </p:nvSpPr>
        <p:spPr>
          <a:xfrm>
            <a:off x="4990224" y="2892628"/>
            <a:ext cx="4947018"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Bluetooth/BLE links the app with the ESP32 node.</a:t>
            </a:r>
          </a:p>
        </p:txBody>
      </p:sp>
      <p:sp>
        <p:nvSpPr>
          <p:cNvPr id="12" name="bullet-3">
            <a:extLst>
              <a:ext uri="{FF2B5EF4-FFF2-40B4-BE49-F238E27FC236}">
                <a16:creationId xmlns:a16="http://schemas.microsoft.com/office/drawing/2014/main" id="{C4965C4F-AE09-4803-974D-EE2E4921ABF1}"/>
              </a:ext>
            </a:extLst>
          </p:cNvPr>
          <p:cNvSpPr>
            <a:spLocks noGrp="1"/>
          </p:cNvSpPr>
          <p:nvPr/>
        </p:nvSpPr>
        <p:spPr>
          <a:xfrm>
            <a:off x="4752594" y="3625913"/>
            <a:ext cx="86411" cy="64821"/>
          </a:xfrm>
          <a:prstGeom prst="rect">
            <a:avLst/>
          </a:prstGeom>
          <a:solidFill>
            <a:srgbClr val="B51F32"/>
          </a:solidFill>
          <a:ln w="0">
            <a:noFill/>
            <a:prstDash val="solid"/>
          </a:ln>
        </p:spPr>
      </p:sp>
      <p:sp>
        <p:nvSpPr>
          <p:cNvPr id="13" name="bullet-text-3">
            <a:extLst>
              <a:ext uri="{FF2B5EF4-FFF2-40B4-BE49-F238E27FC236}">
                <a16:creationId xmlns:a16="http://schemas.microsoft.com/office/drawing/2014/main" id="{EE86BFA6-6113-4F53-ABB2-349D5C9BBAB1}"/>
              </a:ext>
            </a:extLst>
          </p:cNvPr>
          <p:cNvSpPr>
            <a:spLocks noGrp="1"/>
          </p:cNvSpPr>
          <p:nvPr/>
        </p:nvSpPr>
        <p:spPr>
          <a:xfrm>
            <a:off x="4990224" y="3476015"/>
            <a:ext cx="4947018"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LoRa carries location messages directly between the two ESP32 nodes.</a:t>
            </a:r>
          </a:p>
        </p:txBody>
      </p:sp>
      <p:sp>
        <p:nvSpPr>
          <p:cNvPr id="14" name="bullet-4">
            <a:extLst>
              <a:ext uri="{FF2B5EF4-FFF2-40B4-BE49-F238E27FC236}">
                <a16:creationId xmlns:a16="http://schemas.microsoft.com/office/drawing/2014/main" id="{C844205C-5069-437C-AAB5-D598188C655C}"/>
              </a:ext>
            </a:extLst>
          </p:cNvPr>
          <p:cNvSpPr>
            <a:spLocks noGrp="1"/>
          </p:cNvSpPr>
          <p:nvPr/>
        </p:nvSpPr>
        <p:spPr>
          <a:xfrm>
            <a:off x="4752594" y="4172839"/>
            <a:ext cx="86411" cy="64821"/>
          </a:xfrm>
          <a:prstGeom prst="rect">
            <a:avLst/>
          </a:prstGeom>
          <a:solidFill>
            <a:srgbClr val="B51F32"/>
          </a:solidFill>
          <a:ln w="0">
            <a:noFill/>
            <a:prstDash val="solid"/>
          </a:ln>
        </p:spPr>
      </p:sp>
      <p:sp>
        <p:nvSpPr>
          <p:cNvPr id="15" name="bullet-text-4">
            <a:extLst>
              <a:ext uri="{FF2B5EF4-FFF2-40B4-BE49-F238E27FC236}">
                <a16:creationId xmlns:a16="http://schemas.microsoft.com/office/drawing/2014/main" id="{85E5E114-19D2-4977-A1CF-0003CB8FEC59}"/>
              </a:ext>
            </a:extLst>
          </p:cNvPr>
          <p:cNvSpPr>
            <a:spLocks noGrp="1"/>
          </p:cNvSpPr>
          <p:nvPr/>
        </p:nvSpPr>
        <p:spPr>
          <a:xfrm>
            <a:off x="4990224" y="4059403"/>
            <a:ext cx="4947018"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The receiving node sends the other user’s data to the second phone.</a:t>
            </a:r>
          </a:p>
        </p:txBody>
      </p:sp>
      <p:sp>
        <p:nvSpPr>
          <p:cNvPr id="16" name="bullet-5">
            <a:extLst>
              <a:ext uri="{FF2B5EF4-FFF2-40B4-BE49-F238E27FC236}">
                <a16:creationId xmlns:a16="http://schemas.microsoft.com/office/drawing/2014/main" id="{AA91061B-2DC7-4D72-AF94-461F1E057073}"/>
              </a:ext>
            </a:extLst>
          </p:cNvPr>
          <p:cNvSpPr>
            <a:spLocks noGrp="1"/>
          </p:cNvSpPr>
          <p:nvPr/>
        </p:nvSpPr>
        <p:spPr>
          <a:xfrm>
            <a:off x="4752594" y="4799712"/>
            <a:ext cx="86411" cy="64821"/>
          </a:xfrm>
          <a:prstGeom prst="rect">
            <a:avLst/>
          </a:prstGeom>
          <a:solidFill>
            <a:srgbClr val="B51F32"/>
          </a:solidFill>
          <a:ln w="0">
            <a:noFill/>
            <a:prstDash val="solid"/>
          </a:ln>
        </p:spPr>
      </p:sp>
      <p:sp>
        <p:nvSpPr>
          <p:cNvPr id="17" name="bullet-text-5">
            <a:extLst>
              <a:ext uri="{FF2B5EF4-FFF2-40B4-BE49-F238E27FC236}">
                <a16:creationId xmlns:a16="http://schemas.microsoft.com/office/drawing/2014/main" id="{D847898C-5C3F-41AF-8D09-FFC59DA93E4E}"/>
              </a:ext>
            </a:extLst>
          </p:cNvPr>
          <p:cNvSpPr>
            <a:spLocks noGrp="1"/>
          </p:cNvSpPr>
          <p:nvPr/>
        </p:nvSpPr>
        <p:spPr>
          <a:xfrm>
            <a:off x="4990224" y="4642790"/>
            <a:ext cx="4947018" cy="550977"/>
          </a:xfrm>
          <a:prstGeom prst="rect">
            <a:avLst/>
          </a:prstGeom>
          <a:noFill/>
          <a:ln w="0">
            <a:noFill/>
            <a:prstDash val="solid"/>
          </a:ln>
        </p:spPr>
        <p:txBody>
          <a:bodyPr anchor="ctr">
            <a:normAutofit fontScale="96513"/>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The app includes Home, Tracking, Messages, Devices and Settings screens, with local storage and dark/light mode.</a:t>
            </a:r>
          </a:p>
        </p:txBody>
      </p:sp>
    </p:spTree>
    <p:extLst>
      <p:ext uri="{BB962C8B-B14F-4D97-AF65-F5344CB8AC3E}">
        <p14:creationId xmlns:p14="http://schemas.microsoft.com/office/powerpoint/2010/main" val="948558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6D129B24-312C-4C07-8EE5-D8966345CE99}"/>
              </a:ext>
            </a:extLst>
          </p:cNvPr>
          <p:cNvSpPr>
            <a:spLocks noGrp="1"/>
          </p:cNvSpPr>
          <p:nvPr/>
        </p:nvSpPr>
        <p:spPr>
          <a:xfrm>
            <a:off x="2019852" y="4667097"/>
            <a:ext cx="7377751" cy="648207"/>
          </a:xfrm>
          <a:prstGeom prst="rect">
            <a:avLst/>
          </a:prstGeom>
          <a:solidFill>
            <a:srgbClr val="FFFFFF"/>
          </a:solidFill>
          <a:ln w="0">
            <a:noFill/>
            <a:prstDash val="solid"/>
          </a:ln>
        </p:spPr>
        <p:txBody>
          <a:bodyPr/>
          <a:lstStyle/>
          <a:p>
            <a:r>
              <a:rPr lang="en-US" sz="1200" dirty="0">
                <a:solidFill>
                  <a:srgbClr val="202020"/>
                </a:solidFill>
                <a:latin typeface="Times New Roman"/>
                <a:ea typeface="Times New Roman"/>
                <a:cs typeface="Times New Roman"/>
              </a:rPr>
              <a:t>An initial field run reached about 500 m on a partly obstructed route; range depends on antenna placement and local conditions</a:t>
            </a:r>
            <a:endParaRPr lang="en-IN" sz="1200" dirty="0"/>
          </a:p>
        </p:txBody>
      </p:sp>
      <p:sp>
        <p:nvSpPr>
          <p:cNvPr id="3" name="section-marker">
            <a:extLst>
              <a:ext uri="{FF2B5EF4-FFF2-40B4-BE49-F238E27FC236}">
                <a16:creationId xmlns:a16="http://schemas.microsoft.com/office/drawing/2014/main" id="{FAFE9E96-AAD6-4B9C-9A79-7D24A25211D8}"/>
              </a:ext>
            </a:extLst>
          </p:cNvPr>
          <p:cNvSpPr>
            <a:spLocks noGrp="1"/>
          </p:cNvSpPr>
          <p:nvPr/>
        </p:nvSpPr>
        <p:spPr>
          <a:xfrm>
            <a:off x="2372050" y="1262619"/>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D45646CE-0FA2-4BB7-823B-2674B7855693}"/>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dirty="0">
                <a:solidFill>
                  <a:srgbClr val="B51F32"/>
                </a:solidFill>
                <a:latin typeface="Times New Roman"/>
                <a:ea typeface="Times New Roman"/>
                <a:cs typeface="Times New Roman"/>
              </a:rPr>
              <a:t>Results and Discussion</a:t>
            </a:r>
          </a:p>
        </p:txBody>
      </p:sp>
      <p:sp>
        <p:nvSpPr>
          <p:cNvPr id="5" name="page-number">
            <a:extLst>
              <a:ext uri="{FF2B5EF4-FFF2-40B4-BE49-F238E27FC236}">
                <a16:creationId xmlns:a16="http://schemas.microsoft.com/office/drawing/2014/main" id="{F450D9EE-A12E-44B1-B6A1-65DBB7549939}"/>
              </a:ext>
            </a:extLst>
          </p:cNvPr>
          <p:cNvSpPr>
            <a:spLocks noGrp="1"/>
          </p:cNvSpPr>
          <p:nvPr/>
        </p:nvSpPr>
        <p:spPr>
          <a:xfrm>
            <a:off x="10261283" y="5752846"/>
            <a:ext cx="324040" cy="162052"/>
          </a:xfrm>
          <a:prstGeom prst="rect">
            <a:avLst/>
          </a:prstGeom>
          <a:noFill/>
          <a:ln w="0">
            <a:noFill/>
            <a:prstDash val="solid"/>
          </a:ln>
        </p:spPr>
        <p:txBody>
          <a:bodyPr anchor="ctr">
            <a:normAutofit fontScale="602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13</a:t>
            </a:r>
          </a:p>
        </p:txBody>
      </p:sp>
      <p:pic>
        <p:nvPicPr>
          <p:cNvPr id="29" name="Picture 28"/>
          <p:cNvPicPr>
            <a:picLocks noChangeAspect="1"/>
          </p:cNvPicPr>
          <p:nvPr/>
        </p:nvPicPr>
        <p:blipFill>
          <a:blip r:embed="rId4"/>
          <a:srcRect t="16660" b="16660"/>
          <a:stretch>
            <a:fillRect/>
          </a:stretch>
        </p:blipFill>
        <p:spPr>
          <a:xfrm>
            <a:off x="1825428" y="1523720"/>
            <a:ext cx="3996500" cy="1839290"/>
          </a:xfrm>
          <a:prstGeom prst="rect">
            <a:avLst/>
          </a:prstGeom>
        </p:spPr>
      </p:pic>
      <p:pic>
        <p:nvPicPr>
          <p:cNvPr id="30" name="Picture 29"/>
          <p:cNvPicPr>
            <a:picLocks noChangeAspect="1"/>
          </p:cNvPicPr>
          <p:nvPr/>
        </p:nvPicPr>
        <p:blipFill>
          <a:blip r:embed="rId5"/>
          <a:stretch/>
        </p:blipFill>
        <p:spPr>
          <a:xfrm>
            <a:off x="6331755" y="1543544"/>
            <a:ext cx="1162217" cy="2126930"/>
          </a:xfrm>
          <a:prstGeom prst="rect">
            <a:avLst/>
          </a:prstGeom>
        </p:spPr>
      </p:pic>
      <p:pic>
        <p:nvPicPr>
          <p:cNvPr id="31" name="Picture 30"/>
          <p:cNvPicPr>
            <a:picLocks noChangeAspect="1"/>
          </p:cNvPicPr>
          <p:nvPr/>
        </p:nvPicPr>
        <p:blipFill>
          <a:blip r:embed="rId6"/>
          <a:stretch/>
        </p:blipFill>
        <p:spPr>
          <a:xfrm>
            <a:off x="8278591" y="1507083"/>
            <a:ext cx="1300838" cy="2163391"/>
          </a:xfrm>
          <a:prstGeom prst="rect">
            <a:avLst/>
          </a:prstGeom>
        </p:spPr>
      </p:pic>
      <p:sp>
        <p:nvSpPr>
          <p:cNvPr id="9" name="results-caption1">
            <a:extLst>
              <a:ext uri="{FF2B5EF4-FFF2-40B4-BE49-F238E27FC236}">
                <a16:creationId xmlns:a16="http://schemas.microsoft.com/office/drawing/2014/main" id="{CF447A76-C187-48F0-8FD9-B1E2CE61CBD4}"/>
              </a:ext>
            </a:extLst>
          </p:cNvPr>
          <p:cNvSpPr>
            <a:spLocks noGrp="1"/>
          </p:cNvSpPr>
          <p:nvPr/>
        </p:nvSpPr>
        <p:spPr>
          <a:xfrm>
            <a:off x="1782223" y="3281553"/>
            <a:ext cx="3996500" cy="542874"/>
          </a:xfrm>
          <a:prstGeom prst="rect">
            <a:avLst/>
          </a:prstGeom>
          <a:noFill/>
          <a:ln w="0">
            <a:noFill/>
            <a:prstDash val="solid"/>
          </a:ln>
        </p:spPr>
        <p:txBody>
          <a:bodyPr anchor="ctr">
            <a:normAutofit fontScale="99396"/>
          </a:bodyPr>
          <a:lstStyle/>
          <a:p>
            <a:pPr algn="ctr">
              <a:buNone/>
              <a:defRPr sz="1215" b="0">
                <a:solidFill>
                  <a:srgbClr val="4C4C4C"/>
                </a:solidFill>
                <a:latin typeface="Times New Roman"/>
                <a:ea typeface="Times New Roman"/>
                <a:cs typeface="Times New Roman"/>
              </a:defRPr>
            </a:pPr>
            <a:r>
              <a:rPr sz="1215" b="0" dirty="0">
                <a:solidFill>
                  <a:srgbClr val="4C4C4C"/>
                </a:solidFill>
                <a:latin typeface="Times New Roman"/>
                <a:ea typeface="Times New Roman"/>
                <a:cs typeface="Times New Roman"/>
              </a:rPr>
              <a:t>Serial communication test</a:t>
            </a:r>
          </a:p>
        </p:txBody>
      </p:sp>
      <p:sp>
        <p:nvSpPr>
          <p:cNvPr id="10" name="results-caption2">
            <a:extLst>
              <a:ext uri="{FF2B5EF4-FFF2-40B4-BE49-F238E27FC236}">
                <a16:creationId xmlns:a16="http://schemas.microsoft.com/office/drawing/2014/main" id="{EF2C0E81-3C53-4CD3-89FB-A38D01D77550}"/>
              </a:ext>
            </a:extLst>
          </p:cNvPr>
          <p:cNvSpPr>
            <a:spLocks noGrp="1"/>
          </p:cNvSpPr>
          <p:nvPr/>
        </p:nvSpPr>
        <p:spPr>
          <a:xfrm>
            <a:off x="6048755" y="3759607"/>
            <a:ext cx="1728216" cy="259283"/>
          </a:xfrm>
          <a:prstGeom prst="rect">
            <a:avLst/>
          </a:prstGeom>
          <a:noFill/>
          <a:ln w="0">
            <a:noFill/>
            <a:prstDash val="solid"/>
          </a:ln>
        </p:spPr>
        <p:txBody>
          <a:bodyPr anchor="ctr">
            <a:normAutofit fontScale="98145" lnSpcReduction="10000"/>
          </a:bodyPr>
          <a:lstStyle/>
          <a:p>
            <a:pPr algn="ctr">
              <a:buNone/>
              <a:defRPr sz="1215" b="0">
                <a:solidFill>
                  <a:srgbClr val="4C4C4C"/>
                </a:solidFill>
                <a:latin typeface="Times New Roman"/>
                <a:ea typeface="Times New Roman"/>
                <a:cs typeface="Times New Roman"/>
              </a:defRPr>
            </a:pPr>
            <a:r>
              <a:rPr sz="1215" b="0" dirty="0">
                <a:solidFill>
                  <a:srgbClr val="4C4C4C"/>
                </a:solidFill>
                <a:latin typeface="Times New Roman"/>
                <a:ea typeface="Times New Roman"/>
                <a:cs typeface="Times New Roman"/>
              </a:rPr>
              <a:t>Prototype</a:t>
            </a:r>
          </a:p>
        </p:txBody>
      </p:sp>
      <p:sp>
        <p:nvSpPr>
          <p:cNvPr id="11" name="results-caption3">
            <a:extLst>
              <a:ext uri="{FF2B5EF4-FFF2-40B4-BE49-F238E27FC236}">
                <a16:creationId xmlns:a16="http://schemas.microsoft.com/office/drawing/2014/main" id="{72334F5E-FE29-49B4-A700-0B2FBDE7A553}"/>
              </a:ext>
            </a:extLst>
          </p:cNvPr>
          <p:cNvSpPr>
            <a:spLocks noGrp="1"/>
          </p:cNvSpPr>
          <p:nvPr/>
        </p:nvSpPr>
        <p:spPr>
          <a:xfrm>
            <a:off x="7992999" y="3775811"/>
            <a:ext cx="2052256" cy="259283"/>
          </a:xfrm>
          <a:prstGeom prst="rect">
            <a:avLst/>
          </a:prstGeom>
          <a:noFill/>
          <a:ln w="0">
            <a:noFill/>
            <a:prstDash val="solid"/>
          </a:ln>
        </p:spPr>
        <p:txBody>
          <a:bodyPr anchor="ctr">
            <a:normAutofit fontScale="98145" lnSpcReduction="10000"/>
          </a:bodyPr>
          <a:lstStyle/>
          <a:p>
            <a:pPr algn="ctr">
              <a:buNone/>
              <a:defRPr sz="1215" b="0">
                <a:solidFill>
                  <a:srgbClr val="4C4C4C"/>
                </a:solidFill>
                <a:latin typeface="Times New Roman"/>
                <a:ea typeface="Times New Roman"/>
                <a:cs typeface="Times New Roman"/>
              </a:defRPr>
            </a:pPr>
            <a:r>
              <a:rPr sz="1215" b="0" dirty="0">
                <a:solidFill>
                  <a:srgbClr val="4C4C4C"/>
                </a:solidFill>
                <a:latin typeface="Times New Roman"/>
                <a:ea typeface="Times New Roman"/>
                <a:cs typeface="Times New Roman"/>
              </a:rPr>
              <a:t>Tracking screen</a:t>
            </a:r>
          </a:p>
        </p:txBody>
      </p:sp>
      <p:sp>
        <p:nvSpPr>
          <p:cNvPr id="12" name="bullet-1">
            <a:extLst>
              <a:ext uri="{FF2B5EF4-FFF2-40B4-BE49-F238E27FC236}">
                <a16:creationId xmlns:a16="http://schemas.microsoft.com/office/drawing/2014/main" id="{2E4A1673-B837-4B90-BA13-38C8A47DAB35}"/>
              </a:ext>
            </a:extLst>
          </p:cNvPr>
          <p:cNvSpPr>
            <a:spLocks noGrp="1"/>
          </p:cNvSpPr>
          <p:nvPr/>
        </p:nvSpPr>
        <p:spPr>
          <a:xfrm>
            <a:off x="1782223" y="4164736"/>
            <a:ext cx="86411" cy="64821"/>
          </a:xfrm>
          <a:prstGeom prst="rect">
            <a:avLst/>
          </a:prstGeom>
          <a:solidFill>
            <a:srgbClr val="B51F32"/>
          </a:solidFill>
          <a:ln w="0">
            <a:noFill/>
            <a:prstDash val="solid"/>
          </a:ln>
        </p:spPr>
      </p:sp>
      <p:sp>
        <p:nvSpPr>
          <p:cNvPr id="13" name="bullet-text-1">
            <a:extLst>
              <a:ext uri="{FF2B5EF4-FFF2-40B4-BE49-F238E27FC236}">
                <a16:creationId xmlns:a16="http://schemas.microsoft.com/office/drawing/2014/main" id="{2D7A75BB-8270-4381-BF54-59F8615A51CB}"/>
              </a:ext>
            </a:extLst>
          </p:cNvPr>
          <p:cNvSpPr>
            <a:spLocks noGrp="1"/>
          </p:cNvSpPr>
          <p:nvPr/>
        </p:nvSpPr>
        <p:spPr>
          <a:xfrm>
            <a:off x="2019852" y="4051300"/>
            <a:ext cx="8295437" cy="291694"/>
          </a:xfrm>
          <a:prstGeom prst="rect">
            <a:avLst/>
          </a:prstGeom>
          <a:noFill/>
          <a:ln w="0">
            <a:noFill/>
            <a:prstDash val="solid"/>
          </a:ln>
        </p:spPr>
        <p:txBody>
          <a:bodyPr anchor="ctr">
            <a:normAutofit/>
          </a:bodyPr>
          <a:lstStyle/>
          <a:p>
            <a:pPr algn="l">
              <a:buNone/>
              <a:defRPr sz="1215" b="0">
                <a:solidFill>
                  <a:srgbClr val="202020"/>
                </a:solidFill>
                <a:latin typeface="Times New Roman"/>
                <a:ea typeface="Times New Roman"/>
                <a:cs typeface="Times New Roman"/>
              </a:defRPr>
            </a:pPr>
            <a:r>
              <a:rPr sz="1215" b="0">
                <a:solidFill>
                  <a:srgbClr val="202020"/>
                </a:solidFill>
                <a:latin typeface="Times New Roman"/>
                <a:ea typeface="Times New Roman"/>
                <a:cs typeface="Times New Roman"/>
              </a:rPr>
              <a:t>BLE connection and bidirectional LoRa packet exchange are established.</a:t>
            </a:r>
          </a:p>
        </p:txBody>
      </p:sp>
      <p:sp>
        <p:nvSpPr>
          <p:cNvPr id="14" name="bullet-2">
            <a:extLst>
              <a:ext uri="{FF2B5EF4-FFF2-40B4-BE49-F238E27FC236}">
                <a16:creationId xmlns:a16="http://schemas.microsoft.com/office/drawing/2014/main" id="{94F01699-B463-41AF-8652-84400C404F4D}"/>
              </a:ext>
            </a:extLst>
          </p:cNvPr>
          <p:cNvSpPr>
            <a:spLocks noGrp="1"/>
          </p:cNvSpPr>
          <p:nvPr/>
        </p:nvSpPr>
        <p:spPr>
          <a:xfrm>
            <a:off x="1782223" y="4488840"/>
            <a:ext cx="86411" cy="64821"/>
          </a:xfrm>
          <a:prstGeom prst="rect">
            <a:avLst/>
          </a:prstGeom>
          <a:solidFill>
            <a:srgbClr val="B51F32"/>
          </a:solidFill>
          <a:ln w="0">
            <a:noFill/>
            <a:prstDash val="solid"/>
          </a:ln>
        </p:spPr>
      </p:sp>
      <p:sp>
        <p:nvSpPr>
          <p:cNvPr id="15" name="bullet-text-2">
            <a:extLst>
              <a:ext uri="{FF2B5EF4-FFF2-40B4-BE49-F238E27FC236}">
                <a16:creationId xmlns:a16="http://schemas.microsoft.com/office/drawing/2014/main" id="{321D5F3B-8DC9-4AB5-87E2-BC6BE2D2A20D}"/>
              </a:ext>
            </a:extLst>
          </p:cNvPr>
          <p:cNvSpPr>
            <a:spLocks noGrp="1"/>
          </p:cNvSpPr>
          <p:nvPr/>
        </p:nvSpPr>
        <p:spPr>
          <a:xfrm>
            <a:off x="2019852" y="4375404"/>
            <a:ext cx="8295437" cy="291694"/>
          </a:xfrm>
          <a:prstGeom prst="rect">
            <a:avLst/>
          </a:prstGeom>
          <a:noFill/>
          <a:ln w="0">
            <a:noFill/>
            <a:prstDash val="solid"/>
          </a:ln>
        </p:spPr>
        <p:txBody>
          <a:bodyPr anchor="ctr">
            <a:normAutofit/>
          </a:bodyPr>
          <a:lstStyle/>
          <a:p>
            <a:pPr algn="l">
              <a:buNone/>
              <a:defRPr sz="1215" b="0">
                <a:solidFill>
                  <a:srgbClr val="202020"/>
                </a:solidFill>
                <a:latin typeface="Times New Roman"/>
                <a:ea typeface="Times New Roman"/>
                <a:cs typeface="Times New Roman"/>
              </a:defRPr>
            </a:pPr>
            <a:r>
              <a:rPr sz="1215" b="0" dirty="0">
                <a:solidFill>
                  <a:srgbClr val="202020"/>
                </a:solidFill>
                <a:latin typeface="Times New Roman"/>
                <a:ea typeface="Times New Roman"/>
                <a:cs typeface="Times New Roman"/>
              </a:rPr>
              <a:t>The app receives peer location data; serial testing exposes RSSI and SNR.</a:t>
            </a:r>
            <a:endParaRPr lang="en-US" sz="1215" b="0" dirty="0">
              <a:solidFill>
                <a:srgbClr val="202020"/>
              </a:solidFill>
              <a:latin typeface="Times New Roman"/>
              <a:ea typeface="Times New Roman"/>
              <a:cs typeface="Times New Roman"/>
            </a:endParaRPr>
          </a:p>
        </p:txBody>
      </p:sp>
      <p:sp>
        <p:nvSpPr>
          <p:cNvPr id="16" name="bullet-3">
            <a:extLst>
              <a:ext uri="{FF2B5EF4-FFF2-40B4-BE49-F238E27FC236}">
                <a16:creationId xmlns:a16="http://schemas.microsoft.com/office/drawing/2014/main" id="{79F535B5-E703-4BE1-9E50-5621049B0C30}"/>
              </a:ext>
            </a:extLst>
          </p:cNvPr>
          <p:cNvSpPr>
            <a:spLocks noGrp="1"/>
          </p:cNvSpPr>
          <p:nvPr/>
        </p:nvSpPr>
        <p:spPr>
          <a:xfrm>
            <a:off x="1782223" y="4812944"/>
            <a:ext cx="86411" cy="64821"/>
          </a:xfrm>
          <a:prstGeom prst="rect">
            <a:avLst/>
          </a:prstGeom>
          <a:solidFill>
            <a:srgbClr val="B51F32"/>
          </a:solidFill>
          <a:ln w="0">
            <a:noFill/>
            <a:prstDash val="solid"/>
          </a:ln>
        </p:spPr>
      </p:sp>
      <p:sp>
        <p:nvSpPr>
          <p:cNvPr id="17" name="bullet-text-3">
            <a:extLst>
              <a:ext uri="{FF2B5EF4-FFF2-40B4-BE49-F238E27FC236}">
                <a16:creationId xmlns:a16="http://schemas.microsoft.com/office/drawing/2014/main" id="{DCFC477D-51FF-4FC5-BAF9-D2EC433E9EAD}"/>
              </a:ext>
            </a:extLst>
          </p:cNvPr>
          <p:cNvSpPr>
            <a:spLocks noGrp="1"/>
          </p:cNvSpPr>
          <p:nvPr/>
        </p:nvSpPr>
        <p:spPr>
          <a:xfrm>
            <a:off x="2019852" y="4699508"/>
            <a:ext cx="8295437" cy="291694"/>
          </a:xfrm>
          <a:prstGeom prst="rect">
            <a:avLst/>
          </a:prstGeom>
          <a:noFill/>
          <a:ln w="0">
            <a:noFill/>
            <a:prstDash val="solid"/>
          </a:ln>
        </p:spPr>
        <p:txBody>
          <a:bodyPr anchor="ctr">
            <a:normAutofit fontScale="93460"/>
          </a:bodyPr>
          <a:lstStyle/>
          <a:p>
            <a:pPr algn="l">
              <a:buNone/>
              <a:defRPr sz="1215" b="0">
                <a:solidFill>
                  <a:srgbClr val="202020"/>
                </a:solidFill>
                <a:latin typeface="Times New Roman"/>
                <a:ea typeface="Times New Roman"/>
                <a:cs typeface="Times New Roman"/>
              </a:defRPr>
            </a:pPr>
            <a:endParaRPr sz="1200" b="0" dirty="0">
              <a:solidFill>
                <a:srgbClr val="202020"/>
              </a:solidFill>
              <a:latin typeface="Times New Roman"/>
              <a:ea typeface="Times New Roman"/>
              <a:cs typeface="Times New Roman"/>
            </a:endParaRPr>
          </a:p>
        </p:txBody>
      </p:sp>
      <p:sp>
        <p:nvSpPr>
          <p:cNvPr id="18" name="bullet-4">
            <a:extLst>
              <a:ext uri="{FF2B5EF4-FFF2-40B4-BE49-F238E27FC236}">
                <a16:creationId xmlns:a16="http://schemas.microsoft.com/office/drawing/2014/main" id="{EE8CDC19-475A-4C5D-A1E0-55CC87885C6D}"/>
              </a:ext>
            </a:extLst>
          </p:cNvPr>
          <p:cNvSpPr>
            <a:spLocks noGrp="1"/>
          </p:cNvSpPr>
          <p:nvPr/>
        </p:nvSpPr>
        <p:spPr>
          <a:xfrm>
            <a:off x="1782223" y="5137048"/>
            <a:ext cx="86411" cy="64821"/>
          </a:xfrm>
          <a:prstGeom prst="rect">
            <a:avLst/>
          </a:prstGeom>
          <a:solidFill>
            <a:srgbClr val="B51F32"/>
          </a:solidFill>
          <a:ln w="0">
            <a:noFill/>
            <a:prstDash val="solid"/>
          </a:ln>
        </p:spPr>
      </p:sp>
      <p:sp>
        <p:nvSpPr>
          <p:cNvPr id="19" name="bullet-text-4">
            <a:extLst>
              <a:ext uri="{FF2B5EF4-FFF2-40B4-BE49-F238E27FC236}">
                <a16:creationId xmlns:a16="http://schemas.microsoft.com/office/drawing/2014/main" id="{66DCC5C5-39CA-44F0-B504-A14BD5FE277E}"/>
              </a:ext>
            </a:extLst>
          </p:cNvPr>
          <p:cNvSpPr>
            <a:spLocks noGrp="1"/>
          </p:cNvSpPr>
          <p:nvPr/>
        </p:nvSpPr>
        <p:spPr>
          <a:xfrm>
            <a:off x="2019852" y="5023612"/>
            <a:ext cx="8295437" cy="291694"/>
          </a:xfrm>
          <a:prstGeom prst="rect">
            <a:avLst/>
          </a:prstGeom>
          <a:noFill/>
          <a:ln w="0">
            <a:noFill/>
            <a:prstDash val="solid"/>
          </a:ln>
        </p:spPr>
        <p:txBody>
          <a:bodyPr anchor="ctr">
            <a:normAutofit/>
          </a:bodyPr>
          <a:lstStyle/>
          <a:p>
            <a:pPr algn="l">
              <a:buNone/>
              <a:defRPr sz="1215" b="0">
                <a:solidFill>
                  <a:srgbClr val="202020"/>
                </a:solidFill>
                <a:latin typeface="Times New Roman"/>
                <a:ea typeface="Times New Roman"/>
                <a:cs typeface="Times New Roman"/>
              </a:defRPr>
            </a:pPr>
            <a:r>
              <a:rPr sz="1215" b="0" dirty="0">
                <a:solidFill>
                  <a:srgbClr val="202020"/>
                </a:solidFill>
                <a:latin typeface="Times New Roman"/>
                <a:ea typeface="Times New Roman"/>
                <a:cs typeface="Times New Roman"/>
              </a:rPr>
              <a:t>Concrete/buildings can weaken radio reception and reduce phone GPS quality. Wider field testing is still needed.</a:t>
            </a:r>
          </a:p>
        </p:txBody>
      </p:sp>
    </p:spTree>
    <p:extLst>
      <p:ext uri="{BB962C8B-B14F-4D97-AF65-F5344CB8AC3E}">
        <p14:creationId xmlns:p14="http://schemas.microsoft.com/office/powerpoint/2010/main" val="593339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3282B439-213A-49A3-8AF4-802BADF54E94}"/>
              </a:ext>
            </a:extLst>
          </p:cNvPr>
          <p:cNvSpPr>
            <a:spLocks noGrp="1"/>
          </p:cNvSpPr>
          <p:nvPr/>
        </p:nvSpPr>
        <p:spPr>
          <a:xfrm>
            <a:off x="1426791"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1B41CBAC-CD60-4974-911B-1C43506DBB81}"/>
              </a:ext>
            </a:extLst>
          </p:cNvPr>
          <p:cNvSpPr>
            <a:spLocks noGrp="1"/>
          </p:cNvSpPr>
          <p:nvPr/>
        </p:nvSpPr>
        <p:spPr>
          <a:xfrm>
            <a:off x="2322291" y="1288313"/>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F936476D-6969-4155-88E5-958DADCFE5C9}"/>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Conclusion</a:t>
            </a:r>
          </a:p>
        </p:txBody>
      </p:sp>
      <p:sp>
        <p:nvSpPr>
          <p:cNvPr id="5" name="page-number">
            <a:extLst>
              <a:ext uri="{FF2B5EF4-FFF2-40B4-BE49-F238E27FC236}">
                <a16:creationId xmlns:a16="http://schemas.microsoft.com/office/drawing/2014/main" id="{E2C5986C-99BD-49E5-9C08-4568E1FACC06}"/>
              </a:ext>
            </a:extLst>
          </p:cNvPr>
          <p:cNvSpPr>
            <a:spLocks noGrp="1"/>
          </p:cNvSpPr>
          <p:nvPr/>
        </p:nvSpPr>
        <p:spPr>
          <a:xfrm>
            <a:off x="10261283" y="5752846"/>
            <a:ext cx="324040" cy="162052"/>
          </a:xfrm>
          <a:prstGeom prst="rect">
            <a:avLst/>
          </a:prstGeom>
          <a:noFill/>
          <a:ln w="0">
            <a:noFill/>
            <a:prstDash val="solid"/>
          </a:ln>
        </p:spPr>
        <p:txBody>
          <a:bodyPr anchor="ctr">
            <a:normAutofit fontScale="677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14</a:t>
            </a:r>
          </a:p>
        </p:txBody>
      </p:sp>
      <p:sp>
        <p:nvSpPr>
          <p:cNvPr id="6" name="conclusion">
            <a:extLst>
              <a:ext uri="{FF2B5EF4-FFF2-40B4-BE49-F238E27FC236}">
                <a16:creationId xmlns:a16="http://schemas.microsoft.com/office/drawing/2014/main" id="{E3F953C7-340B-4CE1-976C-B2784703E49E}"/>
              </a:ext>
            </a:extLst>
          </p:cNvPr>
          <p:cNvSpPr>
            <a:spLocks noGrp="1"/>
          </p:cNvSpPr>
          <p:nvPr/>
        </p:nvSpPr>
        <p:spPr>
          <a:xfrm>
            <a:off x="1782223" y="1132114"/>
            <a:ext cx="8533066" cy="3526881"/>
          </a:xfrm>
          <a:prstGeom prst="rect">
            <a:avLst/>
          </a:prstGeom>
          <a:noFill/>
          <a:ln w="0">
            <a:noFill/>
            <a:prstDash val="solid"/>
          </a:ln>
        </p:spPr>
        <p:txBody>
          <a:bodyPr anchor="ctr">
            <a:normAutofit/>
          </a:bodyPr>
          <a:lstStyle/>
          <a:p>
            <a:pPr algn="l">
              <a:buNone/>
              <a:defRPr sz="1688" b="0">
                <a:solidFill>
                  <a:srgbClr val="202020"/>
                </a:solidFill>
                <a:latin typeface="Times New Roman"/>
                <a:ea typeface="Times New Roman"/>
                <a:cs typeface="Times New Roman"/>
              </a:defRPr>
            </a:pPr>
            <a:r>
              <a:rPr sz="1688" b="0" dirty="0">
                <a:solidFill>
                  <a:srgbClr val="202020"/>
                </a:solidFill>
                <a:latin typeface="Times New Roman"/>
                <a:ea typeface="Times New Roman"/>
                <a:cs typeface="Times New Roman"/>
              </a:rPr>
              <a:t>The prototype combines smartphone GPS, a Flutter Android application, BLE, ESP32 and SX1278 LoRa radios to exchange location information between two users. The application and radio link have been integrated, and both nodes can send and receive location packets. Initial tests also show RSSI and SNR readings and demonstrate operation without a cellular or internet connection on the core LoRa path. Results vary with antenna position, terrain and obstructions, so the system needs wider field testing before its range and accuracy can be characterized.</a:t>
            </a:r>
          </a:p>
        </p:txBody>
      </p:sp>
      <p:sp>
        <p:nvSpPr>
          <p:cNvPr id="7" name="conclusion-final">
            <a:extLst>
              <a:ext uri="{FF2B5EF4-FFF2-40B4-BE49-F238E27FC236}">
                <a16:creationId xmlns:a16="http://schemas.microsoft.com/office/drawing/2014/main" id="{E8354B0C-6608-433D-8D75-AC75A195B12A}"/>
              </a:ext>
            </a:extLst>
          </p:cNvPr>
          <p:cNvSpPr>
            <a:spLocks noGrp="1"/>
          </p:cNvSpPr>
          <p:nvPr/>
        </p:nvSpPr>
        <p:spPr>
          <a:xfrm>
            <a:off x="1782223" y="4861560"/>
            <a:ext cx="8533066" cy="445643"/>
          </a:xfrm>
          <a:prstGeom prst="rect">
            <a:avLst/>
          </a:prstGeom>
          <a:noFill/>
          <a:ln w="0">
            <a:noFill/>
            <a:prstDash val="solid"/>
          </a:ln>
        </p:spPr>
        <p:txBody>
          <a:bodyPr anchor="ctr">
            <a:normAutofit/>
          </a:bodyPr>
          <a:lstStyle/>
          <a:p>
            <a:pPr algn="l">
              <a:buNone/>
              <a:defRPr sz="1485" b="1">
                <a:solidFill>
                  <a:srgbClr val="25466C"/>
                </a:solidFill>
                <a:latin typeface="Times New Roman"/>
                <a:ea typeface="Times New Roman"/>
                <a:cs typeface="Times New Roman"/>
              </a:defRPr>
            </a:pPr>
            <a:r>
              <a:rPr sz="1485" b="1">
                <a:solidFill>
                  <a:srgbClr val="25466C"/>
                </a:solidFill>
                <a:latin typeface="Times New Roman"/>
                <a:ea typeface="Times New Roman"/>
                <a:cs typeface="Times New Roman"/>
              </a:rPr>
              <a:t>The current design is a working prototype for general outdoor location sharing.</a:t>
            </a:r>
          </a:p>
        </p:txBody>
      </p:sp>
    </p:spTree>
    <p:extLst>
      <p:ext uri="{BB962C8B-B14F-4D97-AF65-F5344CB8AC3E}">
        <p14:creationId xmlns:p14="http://schemas.microsoft.com/office/powerpoint/2010/main" val="1477879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50447A76-666E-477E-BA70-FEFD9F74DCC4}"/>
              </a:ext>
            </a:extLst>
          </p:cNvPr>
          <p:cNvSpPr>
            <a:spLocks noGrp="1"/>
          </p:cNvSpPr>
          <p:nvPr/>
        </p:nvSpPr>
        <p:spPr>
          <a:xfrm>
            <a:off x="1296162" y="1053338"/>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C10CC3D5-DBA8-4961-A9A1-878BCCC82A20}"/>
              </a:ext>
            </a:extLst>
          </p:cNvPr>
          <p:cNvSpPr>
            <a:spLocks noGrp="1"/>
          </p:cNvSpPr>
          <p:nvPr/>
        </p:nvSpPr>
        <p:spPr>
          <a:xfrm>
            <a:off x="2322291" y="1288313"/>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8AC7B37E-DB13-43CB-ADA7-2AC0B3B5DFA5}"/>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Future Scope</a:t>
            </a:r>
          </a:p>
        </p:txBody>
      </p:sp>
      <p:sp>
        <p:nvSpPr>
          <p:cNvPr id="5" name="page-number">
            <a:extLst>
              <a:ext uri="{FF2B5EF4-FFF2-40B4-BE49-F238E27FC236}">
                <a16:creationId xmlns:a16="http://schemas.microsoft.com/office/drawing/2014/main" id="{9E2FCC73-BC36-4F1C-88F9-47C6C0DA3857}"/>
              </a:ext>
            </a:extLst>
          </p:cNvPr>
          <p:cNvSpPr>
            <a:spLocks noGrp="1"/>
          </p:cNvSpPr>
          <p:nvPr/>
        </p:nvSpPr>
        <p:spPr>
          <a:xfrm>
            <a:off x="10261283" y="5752846"/>
            <a:ext cx="324040" cy="162052"/>
          </a:xfrm>
          <a:prstGeom prst="rect">
            <a:avLst/>
          </a:prstGeom>
          <a:noFill/>
          <a:ln w="0">
            <a:noFill/>
            <a:prstDash val="solid"/>
          </a:ln>
        </p:spPr>
        <p:txBody>
          <a:bodyPr anchor="ctr">
            <a:normAutofit fontScale="677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15</a:t>
            </a:r>
          </a:p>
        </p:txBody>
      </p:sp>
      <p:sp>
        <p:nvSpPr>
          <p:cNvPr id="6" name="bullet-1">
            <a:extLst>
              <a:ext uri="{FF2B5EF4-FFF2-40B4-BE49-F238E27FC236}">
                <a16:creationId xmlns:a16="http://schemas.microsoft.com/office/drawing/2014/main" id="{324EB9D4-EA2C-4DBE-A27D-95B71DD9CB59}"/>
              </a:ext>
            </a:extLst>
          </p:cNvPr>
          <p:cNvSpPr>
            <a:spLocks noGrp="1"/>
          </p:cNvSpPr>
          <p:nvPr/>
        </p:nvSpPr>
        <p:spPr>
          <a:xfrm>
            <a:off x="1782223" y="2037803"/>
            <a:ext cx="86411" cy="64821"/>
          </a:xfrm>
          <a:prstGeom prst="rect">
            <a:avLst/>
          </a:prstGeom>
          <a:solidFill>
            <a:srgbClr val="B51F32"/>
          </a:solidFill>
          <a:ln w="0">
            <a:noFill/>
            <a:prstDash val="solid"/>
          </a:ln>
        </p:spPr>
      </p:sp>
      <p:sp>
        <p:nvSpPr>
          <p:cNvPr id="7" name="bullet-text-1">
            <a:extLst>
              <a:ext uri="{FF2B5EF4-FFF2-40B4-BE49-F238E27FC236}">
                <a16:creationId xmlns:a16="http://schemas.microsoft.com/office/drawing/2014/main" id="{862A2589-1E3F-4A1E-AA44-F1E97DA23D12}"/>
              </a:ext>
            </a:extLst>
          </p:cNvPr>
          <p:cNvSpPr>
            <a:spLocks noGrp="1"/>
          </p:cNvSpPr>
          <p:nvPr/>
        </p:nvSpPr>
        <p:spPr>
          <a:xfrm>
            <a:off x="2019852" y="1782572"/>
            <a:ext cx="8295437" cy="64010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Measure range, packet delivery, delay, RSSI and SNR across repeatable LOS and NLOS routes.</a:t>
            </a:r>
          </a:p>
        </p:txBody>
      </p:sp>
      <p:sp>
        <p:nvSpPr>
          <p:cNvPr id="8" name="bullet-2">
            <a:extLst>
              <a:ext uri="{FF2B5EF4-FFF2-40B4-BE49-F238E27FC236}">
                <a16:creationId xmlns:a16="http://schemas.microsoft.com/office/drawing/2014/main" id="{F31C5FFA-5003-43CB-901C-CBA9EBE10927}"/>
              </a:ext>
            </a:extLst>
          </p:cNvPr>
          <p:cNvSpPr>
            <a:spLocks noGrp="1"/>
          </p:cNvSpPr>
          <p:nvPr/>
        </p:nvSpPr>
        <p:spPr>
          <a:xfrm>
            <a:off x="1782223" y="2738679"/>
            <a:ext cx="86411" cy="64821"/>
          </a:xfrm>
          <a:prstGeom prst="rect">
            <a:avLst/>
          </a:prstGeom>
          <a:solidFill>
            <a:srgbClr val="B51F32"/>
          </a:solidFill>
          <a:ln w="0">
            <a:noFill/>
            <a:prstDash val="solid"/>
          </a:ln>
        </p:spPr>
      </p:sp>
      <p:sp>
        <p:nvSpPr>
          <p:cNvPr id="9" name="bullet-text-2">
            <a:extLst>
              <a:ext uri="{FF2B5EF4-FFF2-40B4-BE49-F238E27FC236}">
                <a16:creationId xmlns:a16="http://schemas.microsoft.com/office/drawing/2014/main" id="{8264B793-3215-41FC-B1A4-4CC39CAE43A9}"/>
              </a:ext>
            </a:extLst>
          </p:cNvPr>
          <p:cNvSpPr>
            <a:spLocks noGrp="1"/>
          </p:cNvSpPr>
          <p:nvPr/>
        </p:nvSpPr>
        <p:spPr>
          <a:xfrm>
            <a:off x="2019852" y="2455088"/>
            <a:ext cx="8295437" cy="64010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dirty="0">
                <a:solidFill>
                  <a:srgbClr val="202020"/>
                </a:solidFill>
                <a:latin typeface="Times New Roman"/>
                <a:ea typeface="Times New Roman"/>
                <a:cs typeface="Times New Roman"/>
              </a:rPr>
              <a:t>Compare phone GPS coordinates with known reference points in open and obstructed areas.</a:t>
            </a:r>
          </a:p>
        </p:txBody>
      </p:sp>
      <p:sp>
        <p:nvSpPr>
          <p:cNvPr id="10" name="bullet-3">
            <a:extLst>
              <a:ext uri="{FF2B5EF4-FFF2-40B4-BE49-F238E27FC236}">
                <a16:creationId xmlns:a16="http://schemas.microsoft.com/office/drawing/2014/main" id="{89BCB0EF-9631-446F-97DD-271CE2FC0631}"/>
              </a:ext>
            </a:extLst>
          </p:cNvPr>
          <p:cNvSpPr>
            <a:spLocks noGrp="1"/>
          </p:cNvSpPr>
          <p:nvPr/>
        </p:nvSpPr>
        <p:spPr>
          <a:xfrm>
            <a:off x="1782223" y="3451701"/>
            <a:ext cx="86411" cy="64821"/>
          </a:xfrm>
          <a:prstGeom prst="rect">
            <a:avLst/>
          </a:prstGeom>
          <a:solidFill>
            <a:srgbClr val="B51F32"/>
          </a:solidFill>
          <a:ln w="0">
            <a:noFill/>
            <a:prstDash val="solid"/>
          </a:ln>
        </p:spPr>
      </p:sp>
      <p:sp>
        <p:nvSpPr>
          <p:cNvPr id="11" name="bullet-text-3">
            <a:extLst>
              <a:ext uri="{FF2B5EF4-FFF2-40B4-BE49-F238E27FC236}">
                <a16:creationId xmlns:a16="http://schemas.microsoft.com/office/drawing/2014/main" id="{DC160036-4C7C-4ED5-A2B4-A9037E82F198}"/>
              </a:ext>
            </a:extLst>
          </p:cNvPr>
          <p:cNvSpPr>
            <a:spLocks noGrp="1"/>
          </p:cNvSpPr>
          <p:nvPr/>
        </p:nvSpPr>
        <p:spPr>
          <a:xfrm>
            <a:off x="2019852" y="3127604"/>
            <a:ext cx="8295437" cy="64010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dirty="0">
                <a:solidFill>
                  <a:srgbClr val="202020"/>
                </a:solidFill>
                <a:latin typeface="Times New Roman"/>
                <a:ea typeface="Times New Roman"/>
                <a:cs typeface="Times New Roman"/>
              </a:rPr>
              <a:t>Improve antenna mounting, enclosure and node power management.</a:t>
            </a:r>
          </a:p>
        </p:txBody>
      </p:sp>
      <p:sp>
        <p:nvSpPr>
          <p:cNvPr id="12" name="bullet-4">
            <a:extLst>
              <a:ext uri="{FF2B5EF4-FFF2-40B4-BE49-F238E27FC236}">
                <a16:creationId xmlns:a16="http://schemas.microsoft.com/office/drawing/2014/main" id="{59FABFF1-50DF-4831-A468-BDD7BB443F8A}"/>
              </a:ext>
            </a:extLst>
          </p:cNvPr>
          <p:cNvSpPr>
            <a:spLocks noGrp="1"/>
          </p:cNvSpPr>
          <p:nvPr/>
        </p:nvSpPr>
        <p:spPr>
          <a:xfrm>
            <a:off x="1782223" y="4055350"/>
            <a:ext cx="86411" cy="64821"/>
          </a:xfrm>
          <a:prstGeom prst="rect">
            <a:avLst/>
          </a:prstGeom>
          <a:solidFill>
            <a:srgbClr val="B51F32"/>
          </a:solidFill>
          <a:ln w="0">
            <a:noFill/>
            <a:prstDash val="solid"/>
          </a:ln>
        </p:spPr>
      </p:sp>
      <p:sp>
        <p:nvSpPr>
          <p:cNvPr id="13" name="bullet-text-4">
            <a:extLst>
              <a:ext uri="{FF2B5EF4-FFF2-40B4-BE49-F238E27FC236}">
                <a16:creationId xmlns:a16="http://schemas.microsoft.com/office/drawing/2014/main" id="{01BD1AB3-61F5-4BF4-A1A4-53C760FA1FD9}"/>
              </a:ext>
            </a:extLst>
          </p:cNvPr>
          <p:cNvSpPr>
            <a:spLocks noGrp="1"/>
          </p:cNvSpPr>
          <p:nvPr/>
        </p:nvSpPr>
        <p:spPr>
          <a:xfrm>
            <a:off x="2019852" y="3800119"/>
            <a:ext cx="8295437" cy="64010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Add optional SOS messages and evaluate relay or mesh nodes for wider coverage.</a:t>
            </a:r>
          </a:p>
        </p:txBody>
      </p:sp>
      <p:sp>
        <p:nvSpPr>
          <p:cNvPr id="14" name="bullet-5">
            <a:extLst>
              <a:ext uri="{FF2B5EF4-FFF2-40B4-BE49-F238E27FC236}">
                <a16:creationId xmlns:a16="http://schemas.microsoft.com/office/drawing/2014/main" id="{C3180353-D541-4E88-9F10-6B42D5DAFE75}"/>
              </a:ext>
            </a:extLst>
          </p:cNvPr>
          <p:cNvSpPr>
            <a:spLocks noGrp="1"/>
          </p:cNvSpPr>
          <p:nvPr/>
        </p:nvSpPr>
        <p:spPr>
          <a:xfrm>
            <a:off x="1782223" y="4731915"/>
            <a:ext cx="86411" cy="64821"/>
          </a:xfrm>
          <a:prstGeom prst="rect">
            <a:avLst/>
          </a:prstGeom>
          <a:solidFill>
            <a:srgbClr val="B51F32"/>
          </a:solidFill>
          <a:ln w="0">
            <a:noFill/>
            <a:prstDash val="solid"/>
          </a:ln>
        </p:spPr>
      </p:sp>
      <p:sp>
        <p:nvSpPr>
          <p:cNvPr id="15" name="bullet-text-5">
            <a:extLst>
              <a:ext uri="{FF2B5EF4-FFF2-40B4-BE49-F238E27FC236}">
                <a16:creationId xmlns:a16="http://schemas.microsoft.com/office/drawing/2014/main" id="{216BABAD-BF2D-4C01-B3DE-F0CE3EDC8AFF}"/>
              </a:ext>
            </a:extLst>
          </p:cNvPr>
          <p:cNvSpPr>
            <a:spLocks noGrp="1"/>
          </p:cNvSpPr>
          <p:nvPr/>
        </p:nvSpPr>
        <p:spPr>
          <a:xfrm>
            <a:off x="2019852" y="4472635"/>
            <a:ext cx="8295437" cy="640105"/>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Refine the app’s location display and testing logs.</a:t>
            </a:r>
          </a:p>
        </p:txBody>
      </p:sp>
    </p:spTree>
    <p:extLst>
      <p:ext uri="{BB962C8B-B14F-4D97-AF65-F5344CB8AC3E}">
        <p14:creationId xmlns:p14="http://schemas.microsoft.com/office/powerpoint/2010/main" val="43654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8"/>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4C93A483-6BA7-474A-8314-E0DC1CF78D6F}"/>
              </a:ext>
            </a:extLst>
          </p:cNvPr>
          <p:cNvSpPr>
            <a:spLocks noGrp="1"/>
          </p:cNvSpPr>
          <p:nvPr/>
        </p:nvSpPr>
        <p:spPr>
          <a:xfrm>
            <a:off x="1296162" y="1118159"/>
            <a:ext cx="9505188" cy="5023612"/>
          </a:xfrm>
          <a:prstGeom prst="rect">
            <a:avLst/>
          </a:prstGeom>
          <a:solidFill>
            <a:srgbClr val="FFFFFF"/>
          </a:solidFill>
          <a:ln w="0">
            <a:noFill/>
            <a:prstDash val="solid"/>
          </a:ln>
        </p:spPr>
      </p:sp>
      <p:sp>
        <p:nvSpPr>
          <p:cNvPr id="3" name="section-marker">
            <a:extLst>
              <a:ext uri="{FF2B5EF4-FFF2-40B4-BE49-F238E27FC236}">
                <a16:creationId xmlns:a16="http://schemas.microsoft.com/office/drawing/2014/main" id="{998BD964-021A-4781-9199-71E9FFCFCF4F}"/>
              </a:ext>
            </a:extLst>
          </p:cNvPr>
          <p:cNvSpPr>
            <a:spLocks noGrp="1"/>
          </p:cNvSpPr>
          <p:nvPr/>
        </p:nvSpPr>
        <p:spPr>
          <a:xfrm>
            <a:off x="2322291" y="1255729"/>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B10E52C6-F0FB-4CE1-A46A-6173599208A2}"/>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Applications</a:t>
            </a:r>
          </a:p>
        </p:txBody>
      </p:sp>
      <p:sp>
        <p:nvSpPr>
          <p:cNvPr id="5" name="page-number">
            <a:extLst>
              <a:ext uri="{FF2B5EF4-FFF2-40B4-BE49-F238E27FC236}">
                <a16:creationId xmlns:a16="http://schemas.microsoft.com/office/drawing/2014/main" id="{5ECAE115-7B79-4888-B6BD-915A90BD0781}"/>
              </a:ext>
            </a:extLst>
          </p:cNvPr>
          <p:cNvSpPr>
            <a:spLocks noGrp="1"/>
          </p:cNvSpPr>
          <p:nvPr/>
        </p:nvSpPr>
        <p:spPr>
          <a:xfrm>
            <a:off x="10261283" y="5752846"/>
            <a:ext cx="324040" cy="162052"/>
          </a:xfrm>
          <a:prstGeom prst="rect">
            <a:avLst/>
          </a:prstGeom>
          <a:noFill/>
          <a:ln w="0">
            <a:noFill/>
            <a:prstDash val="solid"/>
          </a:ln>
        </p:spPr>
        <p:txBody>
          <a:bodyPr anchor="ctr">
            <a:normAutofit fontScale="677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16</a:t>
            </a:r>
          </a:p>
        </p:txBody>
      </p:sp>
      <p:sp>
        <p:nvSpPr>
          <p:cNvPr id="6" name="applications-intro">
            <a:extLst>
              <a:ext uri="{FF2B5EF4-FFF2-40B4-BE49-F238E27FC236}">
                <a16:creationId xmlns:a16="http://schemas.microsoft.com/office/drawing/2014/main" id="{8C291242-FA3C-4BDF-9C39-70755C645FDB}"/>
              </a:ext>
            </a:extLst>
          </p:cNvPr>
          <p:cNvSpPr>
            <a:spLocks noGrp="1"/>
          </p:cNvSpPr>
          <p:nvPr/>
        </p:nvSpPr>
        <p:spPr>
          <a:xfrm>
            <a:off x="1782223" y="1685341"/>
            <a:ext cx="8533066" cy="437540"/>
          </a:xfrm>
          <a:prstGeom prst="rect">
            <a:avLst/>
          </a:prstGeom>
          <a:noFill/>
          <a:ln w="0">
            <a:noFill/>
            <a:prstDash val="solid"/>
          </a:ln>
        </p:spPr>
        <p:txBody>
          <a:bodyPr anchor="ctr">
            <a:normAutofit/>
          </a:bodyPr>
          <a:lstStyle/>
          <a:p>
            <a:pPr algn="l">
              <a:buNone/>
              <a:defRPr sz="1552" b="1">
                <a:solidFill>
                  <a:srgbClr val="25466C"/>
                </a:solidFill>
                <a:latin typeface="Times New Roman"/>
                <a:ea typeface="Times New Roman"/>
                <a:cs typeface="Times New Roman"/>
              </a:defRPr>
            </a:pPr>
            <a:r>
              <a:rPr sz="1552" b="1">
                <a:solidFill>
                  <a:srgbClr val="25466C"/>
                </a:solidFill>
                <a:latin typeface="Times New Roman"/>
                <a:ea typeface="Times New Roman"/>
                <a:cs typeface="Times New Roman"/>
              </a:rPr>
              <a:t>Potential uses for the current two-user design and future multi-node versions</a:t>
            </a:r>
          </a:p>
        </p:txBody>
      </p:sp>
      <p:sp>
        <p:nvSpPr>
          <p:cNvPr id="7" name="bullet-1">
            <a:extLst>
              <a:ext uri="{FF2B5EF4-FFF2-40B4-BE49-F238E27FC236}">
                <a16:creationId xmlns:a16="http://schemas.microsoft.com/office/drawing/2014/main" id="{BC240719-551A-4F72-97AB-62648B0601E0}"/>
              </a:ext>
            </a:extLst>
          </p:cNvPr>
          <p:cNvSpPr>
            <a:spLocks noGrp="1"/>
          </p:cNvSpPr>
          <p:nvPr/>
        </p:nvSpPr>
        <p:spPr>
          <a:xfrm>
            <a:off x="1782222" y="2527887"/>
            <a:ext cx="86411" cy="64821"/>
          </a:xfrm>
          <a:prstGeom prst="rect">
            <a:avLst/>
          </a:prstGeom>
          <a:solidFill>
            <a:srgbClr val="B51F32"/>
          </a:solidFill>
          <a:ln w="0">
            <a:noFill/>
            <a:prstDash val="solid"/>
          </a:ln>
        </p:spPr>
      </p:sp>
      <p:sp>
        <p:nvSpPr>
          <p:cNvPr id="8" name="bullet-text-1">
            <a:extLst>
              <a:ext uri="{FF2B5EF4-FFF2-40B4-BE49-F238E27FC236}">
                <a16:creationId xmlns:a16="http://schemas.microsoft.com/office/drawing/2014/main" id="{39261E11-43A8-4A6F-824C-46AA6573F696}"/>
              </a:ext>
            </a:extLst>
          </p:cNvPr>
          <p:cNvSpPr>
            <a:spLocks noGrp="1"/>
          </p:cNvSpPr>
          <p:nvPr/>
        </p:nvSpPr>
        <p:spPr>
          <a:xfrm>
            <a:off x="2019852" y="2301138"/>
            <a:ext cx="8295437"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Trekking and hiking groups</a:t>
            </a:r>
          </a:p>
        </p:txBody>
      </p:sp>
      <p:sp>
        <p:nvSpPr>
          <p:cNvPr id="9" name="bullet-2">
            <a:extLst>
              <a:ext uri="{FF2B5EF4-FFF2-40B4-BE49-F238E27FC236}">
                <a16:creationId xmlns:a16="http://schemas.microsoft.com/office/drawing/2014/main" id="{5307C81E-0336-4BE9-9EE8-BA93E2DC1DAA}"/>
              </a:ext>
            </a:extLst>
          </p:cNvPr>
          <p:cNvSpPr>
            <a:spLocks noGrp="1"/>
          </p:cNvSpPr>
          <p:nvPr/>
        </p:nvSpPr>
        <p:spPr>
          <a:xfrm>
            <a:off x="1782222" y="3127603"/>
            <a:ext cx="86411" cy="64821"/>
          </a:xfrm>
          <a:prstGeom prst="rect">
            <a:avLst/>
          </a:prstGeom>
          <a:solidFill>
            <a:srgbClr val="B51F32"/>
          </a:solidFill>
          <a:ln w="0">
            <a:noFill/>
            <a:prstDash val="solid"/>
          </a:ln>
        </p:spPr>
      </p:sp>
      <p:sp>
        <p:nvSpPr>
          <p:cNvPr id="10" name="bullet-text-2">
            <a:extLst>
              <a:ext uri="{FF2B5EF4-FFF2-40B4-BE49-F238E27FC236}">
                <a16:creationId xmlns:a16="http://schemas.microsoft.com/office/drawing/2014/main" id="{FC84B060-5BB5-499D-B2F0-8C053FBBF9DA}"/>
              </a:ext>
            </a:extLst>
          </p:cNvPr>
          <p:cNvSpPr>
            <a:spLocks noGrp="1"/>
          </p:cNvSpPr>
          <p:nvPr/>
        </p:nvSpPr>
        <p:spPr>
          <a:xfrm>
            <a:off x="2019852" y="2884526"/>
            <a:ext cx="8295437"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Outdoor events and campus activities</a:t>
            </a:r>
          </a:p>
        </p:txBody>
      </p:sp>
      <p:sp>
        <p:nvSpPr>
          <p:cNvPr id="11" name="bullet-3">
            <a:extLst>
              <a:ext uri="{FF2B5EF4-FFF2-40B4-BE49-F238E27FC236}">
                <a16:creationId xmlns:a16="http://schemas.microsoft.com/office/drawing/2014/main" id="{6DAB5B5E-8119-4B03-BAC2-8435C2F4BBF3}"/>
              </a:ext>
            </a:extLst>
          </p:cNvPr>
          <p:cNvSpPr>
            <a:spLocks noGrp="1"/>
          </p:cNvSpPr>
          <p:nvPr/>
        </p:nvSpPr>
        <p:spPr>
          <a:xfrm>
            <a:off x="1782222" y="3702888"/>
            <a:ext cx="86411" cy="64821"/>
          </a:xfrm>
          <a:prstGeom prst="rect">
            <a:avLst/>
          </a:prstGeom>
          <a:solidFill>
            <a:srgbClr val="B51F32"/>
          </a:solidFill>
          <a:ln w="0">
            <a:noFill/>
            <a:prstDash val="solid"/>
          </a:ln>
        </p:spPr>
      </p:sp>
      <p:sp>
        <p:nvSpPr>
          <p:cNvPr id="12" name="bullet-text-3">
            <a:extLst>
              <a:ext uri="{FF2B5EF4-FFF2-40B4-BE49-F238E27FC236}">
                <a16:creationId xmlns:a16="http://schemas.microsoft.com/office/drawing/2014/main" id="{FC0FEE60-43D9-4AD2-B007-A3446D0317F1}"/>
              </a:ext>
            </a:extLst>
          </p:cNvPr>
          <p:cNvSpPr>
            <a:spLocks noGrp="1"/>
          </p:cNvSpPr>
          <p:nvPr/>
        </p:nvSpPr>
        <p:spPr>
          <a:xfrm>
            <a:off x="2019852" y="3467913"/>
            <a:ext cx="8295437"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dirty="0">
                <a:solidFill>
                  <a:srgbClr val="202020"/>
                </a:solidFill>
                <a:latin typeface="Times New Roman"/>
                <a:ea typeface="Times New Roman"/>
                <a:cs typeface="Times New Roman"/>
              </a:rPr>
              <a:t>Remote field teams in agriculture, forestry</a:t>
            </a:r>
          </a:p>
        </p:txBody>
      </p:sp>
      <p:sp>
        <p:nvSpPr>
          <p:cNvPr id="13" name="bullet-4">
            <a:extLst>
              <a:ext uri="{FF2B5EF4-FFF2-40B4-BE49-F238E27FC236}">
                <a16:creationId xmlns:a16="http://schemas.microsoft.com/office/drawing/2014/main" id="{55F53097-75E8-4A4E-8CEF-5A11604C62E7}"/>
              </a:ext>
            </a:extLst>
          </p:cNvPr>
          <p:cNvSpPr>
            <a:spLocks noGrp="1"/>
          </p:cNvSpPr>
          <p:nvPr/>
        </p:nvSpPr>
        <p:spPr>
          <a:xfrm>
            <a:off x="1782221" y="4278173"/>
            <a:ext cx="86411" cy="64821"/>
          </a:xfrm>
          <a:prstGeom prst="rect">
            <a:avLst/>
          </a:prstGeom>
          <a:solidFill>
            <a:srgbClr val="B51F32"/>
          </a:solidFill>
          <a:ln w="0">
            <a:noFill/>
            <a:prstDash val="solid"/>
          </a:ln>
        </p:spPr>
      </p:sp>
      <p:sp>
        <p:nvSpPr>
          <p:cNvPr id="14" name="bullet-text-4">
            <a:extLst>
              <a:ext uri="{FF2B5EF4-FFF2-40B4-BE49-F238E27FC236}">
                <a16:creationId xmlns:a16="http://schemas.microsoft.com/office/drawing/2014/main" id="{D55E1E18-F242-42E2-A58E-A49310C8E30A}"/>
              </a:ext>
            </a:extLst>
          </p:cNvPr>
          <p:cNvSpPr>
            <a:spLocks noGrp="1"/>
          </p:cNvSpPr>
          <p:nvPr/>
        </p:nvSpPr>
        <p:spPr>
          <a:xfrm>
            <a:off x="2019852" y="4051300"/>
            <a:ext cx="8295437"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Disaster response and search teams where network coverage is limited</a:t>
            </a:r>
          </a:p>
        </p:txBody>
      </p:sp>
      <p:sp>
        <p:nvSpPr>
          <p:cNvPr id="15" name="bullet-5">
            <a:extLst>
              <a:ext uri="{FF2B5EF4-FFF2-40B4-BE49-F238E27FC236}">
                <a16:creationId xmlns:a16="http://schemas.microsoft.com/office/drawing/2014/main" id="{39D40686-3DC8-4C3D-BB32-CD2213B6C0C8}"/>
              </a:ext>
            </a:extLst>
          </p:cNvPr>
          <p:cNvSpPr>
            <a:spLocks noGrp="1"/>
          </p:cNvSpPr>
          <p:nvPr/>
        </p:nvSpPr>
        <p:spPr>
          <a:xfrm>
            <a:off x="1782221" y="4853457"/>
            <a:ext cx="86409" cy="64821"/>
          </a:xfrm>
          <a:prstGeom prst="rect">
            <a:avLst/>
          </a:prstGeom>
          <a:solidFill>
            <a:srgbClr val="B51F32"/>
          </a:solidFill>
          <a:ln w="0">
            <a:noFill/>
            <a:prstDash val="solid"/>
          </a:ln>
        </p:spPr>
      </p:sp>
      <p:sp>
        <p:nvSpPr>
          <p:cNvPr id="16" name="bullet-text-5">
            <a:extLst>
              <a:ext uri="{FF2B5EF4-FFF2-40B4-BE49-F238E27FC236}">
                <a16:creationId xmlns:a16="http://schemas.microsoft.com/office/drawing/2014/main" id="{4AB4E624-183C-4501-9999-372353457DAE}"/>
              </a:ext>
            </a:extLst>
          </p:cNvPr>
          <p:cNvSpPr>
            <a:spLocks noGrp="1"/>
          </p:cNvSpPr>
          <p:nvPr/>
        </p:nvSpPr>
        <p:spPr>
          <a:xfrm>
            <a:off x="2019852" y="4634687"/>
            <a:ext cx="8295437" cy="550977"/>
          </a:xfrm>
          <a:prstGeom prst="rect">
            <a:avLst/>
          </a:prstGeom>
          <a:noFill/>
          <a:ln w="0">
            <a:noFill/>
            <a:prstDash val="solid"/>
          </a:ln>
        </p:spPr>
        <p:txBody>
          <a:bodyPr anchor="ctr">
            <a:normAutofit/>
          </a:bodyPr>
          <a:lstStyle/>
          <a:p>
            <a:pPr algn="l">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Rural or isolated work sites</a:t>
            </a:r>
          </a:p>
        </p:txBody>
      </p:sp>
    </p:spTree>
    <p:extLst>
      <p:ext uri="{BB962C8B-B14F-4D97-AF65-F5344CB8AC3E}">
        <p14:creationId xmlns:p14="http://schemas.microsoft.com/office/powerpoint/2010/main" val="2075275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rcRect/>
          <a:stretch>
            <a:fillRect/>
          </a:stretch>
        </p:blipFill>
        <p:spPr>
          <a:xfrm>
            <a:off x="0" y="0"/>
            <a:ext cx="10801350" cy="6076950"/>
          </a:xfrm>
          <a:prstGeom prst="rect">
            <a:avLst/>
          </a:prstGeom>
        </p:spPr>
      </p:pic>
      <p:sp>
        <p:nvSpPr>
          <p:cNvPr id="2" name="content-whiteout">
            <a:extLst>
              <a:ext uri="{FF2B5EF4-FFF2-40B4-BE49-F238E27FC236}">
                <a16:creationId xmlns:a16="http://schemas.microsoft.com/office/drawing/2014/main" id="{EFD85BFD-D3B8-4236-B6E8-7C2F6FF7E878}"/>
              </a:ext>
            </a:extLst>
          </p:cNvPr>
          <p:cNvSpPr>
            <a:spLocks noGrp="1"/>
          </p:cNvSpPr>
          <p:nvPr/>
        </p:nvSpPr>
        <p:spPr>
          <a:xfrm>
            <a:off x="1296162" y="1118159"/>
            <a:ext cx="9505188" cy="5023612"/>
          </a:xfrm>
          <a:prstGeom prst="rect">
            <a:avLst/>
          </a:prstGeom>
          <a:solidFill>
            <a:srgbClr val="FFFFFF"/>
          </a:solidFill>
          <a:ln w="0">
            <a:noFill/>
            <a:prstDash val="solid"/>
          </a:ln>
        </p:spPr>
        <p:txBody>
          <a:bodyPr/>
          <a:lstStyle/>
          <a:p>
            <a:endParaRPr lang="en-IN" dirty="0"/>
          </a:p>
        </p:txBody>
      </p:sp>
      <p:sp>
        <p:nvSpPr>
          <p:cNvPr id="3" name="section-marker">
            <a:extLst>
              <a:ext uri="{FF2B5EF4-FFF2-40B4-BE49-F238E27FC236}">
                <a16:creationId xmlns:a16="http://schemas.microsoft.com/office/drawing/2014/main" id="{7D18A5B5-9CB8-4BBA-8FCE-37745B298FFB}"/>
              </a:ext>
            </a:extLst>
          </p:cNvPr>
          <p:cNvSpPr>
            <a:spLocks noGrp="1"/>
          </p:cNvSpPr>
          <p:nvPr/>
        </p:nvSpPr>
        <p:spPr>
          <a:xfrm>
            <a:off x="2322291" y="1261218"/>
            <a:ext cx="108014" cy="81026"/>
          </a:xfrm>
          <a:prstGeom prst="rect">
            <a:avLst/>
          </a:prstGeom>
          <a:solidFill>
            <a:srgbClr val="FFFFFF"/>
          </a:solidFill>
          <a:ln w="13335">
            <a:solidFill>
              <a:srgbClr val="D71932"/>
            </a:solidFill>
            <a:prstDash val="solid"/>
          </a:ln>
        </p:spPr>
      </p:sp>
      <p:sp>
        <p:nvSpPr>
          <p:cNvPr id="4" name="slide-title">
            <a:extLst>
              <a:ext uri="{FF2B5EF4-FFF2-40B4-BE49-F238E27FC236}">
                <a16:creationId xmlns:a16="http://schemas.microsoft.com/office/drawing/2014/main" id="{BA3B21A5-C825-4431-8EC1-C4B49F1C7DE5}"/>
              </a:ext>
            </a:extLst>
          </p:cNvPr>
          <p:cNvSpPr>
            <a:spLocks noGrp="1"/>
          </p:cNvSpPr>
          <p:nvPr/>
        </p:nvSpPr>
        <p:spPr>
          <a:xfrm>
            <a:off x="2700338" y="1069543"/>
            <a:ext cx="7722965" cy="437540"/>
          </a:xfrm>
          <a:prstGeom prst="rect">
            <a:avLst/>
          </a:prstGeom>
          <a:noFill/>
          <a:ln w="0">
            <a:noFill/>
            <a:prstDash val="solid"/>
          </a:ln>
        </p:spPr>
        <p:txBody>
          <a:bodyPr anchor="ctr">
            <a:normAutofit/>
          </a:bodyPr>
          <a:lstStyle/>
          <a:p>
            <a:pPr algn="l">
              <a:buNone/>
              <a:defRPr sz="1823" b="1">
                <a:solidFill>
                  <a:srgbClr val="B51F32"/>
                </a:solidFill>
                <a:latin typeface="Times New Roman"/>
                <a:ea typeface="Times New Roman"/>
                <a:cs typeface="Times New Roman"/>
              </a:defRPr>
            </a:pPr>
            <a:r>
              <a:rPr sz="1823" b="1">
                <a:solidFill>
                  <a:srgbClr val="B51F32"/>
                </a:solidFill>
                <a:latin typeface="Times New Roman"/>
                <a:ea typeface="Times New Roman"/>
                <a:cs typeface="Times New Roman"/>
              </a:rPr>
              <a:t>References</a:t>
            </a:r>
          </a:p>
        </p:txBody>
      </p:sp>
      <p:sp>
        <p:nvSpPr>
          <p:cNvPr id="5" name="page-number">
            <a:extLst>
              <a:ext uri="{FF2B5EF4-FFF2-40B4-BE49-F238E27FC236}">
                <a16:creationId xmlns:a16="http://schemas.microsoft.com/office/drawing/2014/main" id="{8470F5CB-FB22-49BB-9566-4D9791FB2122}"/>
              </a:ext>
            </a:extLst>
          </p:cNvPr>
          <p:cNvSpPr>
            <a:spLocks noGrp="1"/>
          </p:cNvSpPr>
          <p:nvPr/>
        </p:nvSpPr>
        <p:spPr>
          <a:xfrm>
            <a:off x="10261283" y="5752846"/>
            <a:ext cx="324040" cy="162052"/>
          </a:xfrm>
          <a:prstGeom prst="rect">
            <a:avLst/>
          </a:prstGeom>
          <a:noFill/>
          <a:ln w="0">
            <a:noFill/>
            <a:prstDash val="solid"/>
          </a:ln>
        </p:spPr>
        <p:txBody>
          <a:bodyPr anchor="ctr">
            <a:normAutofit fontScale="60271" lnSpcReduction="20000"/>
          </a:bodyPr>
          <a:lstStyle/>
          <a:p>
            <a:pPr algn="r">
              <a:buNone/>
              <a:defRPr sz="878" b="0">
                <a:solidFill>
                  <a:srgbClr val="777777"/>
                </a:solidFill>
                <a:latin typeface="Times New Roman"/>
                <a:ea typeface="Times New Roman"/>
                <a:cs typeface="Times New Roman"/>
              </a:defRPr>
            </a:pPr>
            <a:r>
              <a:rPr sz="878" b="0">
                <a:solidFill>
                  <a:srgbClr val="777777"/>
                </a:solidFill>
                <a:latin typeface="Times New Roman"/>
                <a:ea typeface="Times New Roman"/>
                <a:cs typeface="Times New Roman"/>
              </a:rPr>
              <a:t>17</a:t>
            </a:r>
          </a:p>
        </p:txBody>
      </p:sp>
      <p:sp>
        <p:nvSpPr>
          <p:cNvPr id="6" name="ref1">
            <a:extLst>
              <a:ext uri="{FF2B5EF4-FFF2-40B4-BE49-F238E27FC236}">
                <a16:creationId xmlns:a16="http://schemas.microsoft.com/office/drawing/2014/main" id="{DFC2A4A8-8FB3-4B0E-A53E-428305159F52}"/>
              </a:ext>
            </a:extLst>
          </p:cNvPr>
          <p:cNvSpPr>
            <a:spLocks noGrp="1"/>
          </p:cNvSpPr>
          <p:nvPr/>
        </p:nvSpPr>
        <p:spPr>
          <a:xfrm>
            <a:off x="1782223" y="1742059"/>
            <a:ext cx="8533066" cy="607695"/>
          </a:xfrm>
          <a:prstGeom prst="rect">
            <a:avLst/>
          </a:prstGeom>
          <a:noFill/>
          <a:ln w="0">
            <a:noFill/>
            <a:prstDash val="solid"/>
          </a:ln>
        </p:spPr>
        <p:txBody>
          <a:bodyPr anchor="ctr">
            <a:normAutofit/>
          </a:bodyPr>
          <a:lstStyle/>
          <a:p>
            <a:pPr algn="l">
              <a:buNone/>
              <a:defRPr sz="1215" b="0">
                <a:solidFill>
                  <a:srgbClr val="202020"/>
                </a:solidFill>
                <a:latin typeface="Times New Roman"/>
                <a:ea typeface="Times New Roman"/>
                <a:cs typeface="Times New Roman"/>
              </a:defRPr>
            </a:pPr>
            <a:endParaRPr sz="1215" b="0" dirty="0">
              <a:solidFill>
                <a:srgbClr val="202020"/>
              </a:solidFill>
              <a:latin typeface="Times New Roman"/>
              <a:ea typeface="Times New Roman"/>
              <a:cs typeface="Times New Roman"/>
            </a:endParaRPr>
          </a:p>
        </p:txBody>
      </p:sp>
      <p:sp>
        <p:nvSpPr>
          <p:cNvPr id="7" name="ref2">
            <a:extLst>
              <a:ext uri="{FF2B5EF4-FFF2-40B4-BE49-F238E27FC236}">
                <a16:creationId xmlns:a16="http://schemas.microsoft.com/office/drawing/2014/main" id="{CFC817C3-0165-4AAA-B289-F498AF76C364}"/>
              </a:ext>
            </a:extLst>
          </p:cNvPr>
          <p:cNvSpPr>
            <a:spLocks noGrp="1"/>
          </p:cNvSpPr>
          <p:nvPr/>
        </p:nvSpPr>
        <p:spPr>
          <a:xfrm>
            <a:off x="1728217" y="1813969"/>
            <a:ext cx="8533066" cy="607695"/>
          </a:xfrm>
          <a:prstGeom prst="rect">
            <a:avLst/>
          </a:prstGeom>
          <a:noFill/>
          <a:ln w="0">
            <a:noFill/>
            <a:prstDash val="solid"/>
          </a:ln>
        </p:spPr>
        <p:txBody>
          <a:bodyPr anchor="ctr">
            <a:normAutofit/>
          </a:bodyPr>
          <a:lstStyle/>
          <a:p>
            <a:pPr>
              <a:defRPr sz="1215" b="0">
                <a:solidFill>
                  <a:srgbClr val="202020"/>
                </a:solidFill>
                <a:latin typeface="Times New Roman"/>
                <a:ea typeface="Times New Roman"/>
                <a:cs typeface="Times New Roman"/>
              </a:defRPr>
            </a:pPr>
            <a:r>
              <a:rPr lang="en-IN" sz="1215" dirty="0">
                <a:solidFill>
                  <a:srgbClr val="202020"/>
                </a:solidFill>
                <a:latin typeface="Times New Roman"/>
                <a:hlinkClick r:id="rId4"/>
              </a:rPr>
              <a:t>https://doi.org/10.11591/ijece.v11i4.pp3123-3128</a:t>
            </a:r>
            <a:endParaRPr lang="en-IN" sz="1215" dirty="0">
              <a:solidFill>
                <a:srgbClr val="202020"/>
              </a:solidFill>
              <a:latin typeface="Times New Roman"/>
            </a:endParaRPr>
          </a:p>
          <a:p>
            <a:pPr>
              <a:defRPr sz="1215" b="0">
                <a:solidFill>
                  <a:srgbClr val="202020"/>
                </a:solidFill>
                <a:latin typeface="Times New Roman"/>
                <a:ea typeface="Times New Roman"/>
                <a:cs typeface="Times New Roman"/>
              </a:defRPr>
            </a:pPr>
            <a:endParaRPr lang="en-IN" sz="1215" dirty="0">
              <a:solidFill>
                <a:srgbClr val="202020"/>
              </a:solidFill>
              <a:latin typeface="Times New Roman"/>
            </a:endParaRPr>
          </a:p>
        </p:txBody>
      </p:sp>
      <p:sp>
        <p:nvSpPr>
          <p:cNvPr id="9" name="ref4">
            <a:extLst>
              <a:ext uri="{FF2B5EF4-FFF2-40B4-BE49-F238E27FC236}">
                <a16:creationId xmlns:a16="http://schemas.microsoft.com/office/drawing/2014/main" id="{B2685268-D610-4128-BE21-697B871DF191}"/>
              </a:ext>
            </a:extLst>
          </p:cNvPr>
          <p:cNvSpPr>
            <a:spLocks noGrp="1"/>
          </p:cNvSpPr>
          <p:nvPr/>
        </p:nvSpPr>
        <p:spPr>
          <a:xfrm>
            <a:off x="1728217" y="2361907"/>
            <a:ext cx="8533066" cy="526669"/>
          </a:xfrm>
          <a:prstGeom prst="rect">
            <a:avLst/>
          </a:prstGeom>
          <a:noFill/>
          <a:ln w="0">
            <a:noFill/>
            <a:prstDash val="solid"/>
          </a:ln>
        </p:spPr>
        <p:txBody>
          <a:bodyPr anchor="ctr">
            <a:normAutofit/>
          </a:bodyPr>
          <a:lstStyle/>
          <a:p>
            <a:pPr>
              <a:defRPr sz="1148" b="0">
                <a:solidFill>
                  <a:srgbClr val="202020"/>
                </a:solidFill>
                <a:latin typeface="Times New Roman"/>
                <a:ea typeface="Times New Roman"/>
                <a:cs typeface="Times New Roman"/>
              </a:defRPr>
            </a:pPr>
            <a:r>
              <a:rPr lang="en-IN" sz="1148" dirty="0">
                <a:solidFill>
                  <a:srgbClr val="202020"/>
                </a:solidFill>
                <a:latin typeface="Times New Roman"/>
                <a:hlinkClick r:id="rId5"/>
              </a:rPr>
              <a:t>https://doi.org/10.18280/ijsse.140610</a:t>
            </a:r>
            <a:endParaRPr lang="en-IN" sz="1148" dirty="0">
              <a:solidFill>
                <a:srgbClr val="202020"/>
              </a:solidFill>
              <a:latin typeface="Times New Roman"/>
            </a:endParaRPr>
          </a:p>
          <a:p>
            <a:pPr>
              <a:defRPr sz="1148" b="0">
                <a:solidFill>
                  <a:srgbClr val="202020"/>
                </a:solidFill>
                <a:latin typeface="Times New Roman"/>
                <a:ea typeface="Times New Roman"/>
                <a:cs typeface="Times New Roman"/>
              </a:defRPr>
            </a:pPr>
            <a:endParaRPr sz="1148" b="0" dirty="0">
              <a:solidFill>
                <a:srgbClr val="202020"/>
              </a:solidFill>
              <a:latin typeface="Times New Roman"/>
              <a:ea typeface="Times New Roman"/>
              <a:cs typeface="Times New Roman"/>
            </a:endParaRPr>
          </a:p>
        </p:txBody>
      </p:sp>
      <p:sp>
        <p:nvSpPr>
          <p:cNvPr id="10" name="ref5">
            <a:extLst>
              <a:ext uri="{FF2B5EF4-FFF2-40B4-BE49-F238E27FC236}">
                <a16:creationId xmlns:a16="http://schemas.microsoft.com/office/drawing/2014/main" id="{0C1D8AB6-749F-4C8C-8C83-2E51652739F7}"/>
              </a:ext>
            </a:extLst>
          </p:cNvPr>
          <p:cNvSpPr>
            <a:spLocks noGrp="1"/>
          </p:cNvSpPr>
          <p:nvPr/>
        </p:nvSpPr>
        <p:spPr>
          <a:xfrm>
            <a:off x="1728217" y="2836739"/>
            <a:ext cx="8533066" cy="453746"/>
          </a:xfrm>
          <a:prstGeom prst="rect">
            <a:avLst/>
          </a:prstGeom>
          <a:noFill/>
          <a:ln w="0">
            <a:noFill/>
            <a:prstDash val="solid"/>
          </a:ln>
        </p:spPr>
        <p:txBody>
          <a:bodyPr anchor="ctr">
            <a:normAutofit/>
          </a:bodyPr>
          <a:lstStyle/>
          <a:p>
            <a:pPr>
              <a:defRPr sz="1148" b="0">
                <a:solidFill>
                  <a:srgbClr val="202020"/>
                </a:solidFill>
                <a:latin typeface="Times New Roman"/>
                <a:ea typeface="Times New Roman"/>
                <a:cs typeface="Times New Roman"/>
              </a:defRPr>
            </a:pPr>
            <a:r>
              <a:rPr lang="en-IN" sz="1148" dirty="0">
                <a:solidFill>
                  <a:srgbClr val="202020"/>
                </a:solidFill>
                <a:latin typeface="Times New Roman"/>
                <a:ea typeface="Times New Roman"/>
                <a:cs typeface="Times New Roman"/>
                <a:hlinkClick r:id="rId6"/>
              </a:rPr>
              <a:t>https://www.mokosmart.com/what-is-a-lora-module/</a:t>
            </a:r>
            <a:endParaRPr lang="en-IN" sz="1148" dirty="0">
              <a:solidFill>
                <a:srgbClr val="202020"/>
              </a:solidFill>
              <a:latin typeface="Times New Roman"/>
              <a:ea typeface="Times New Roman"/>
              <a:cs typeface="Times New Roman"/>
            </a:endParaRPr>
          </a:p>
          <a:p>
            <a:pPr>
              <a:defRPr sz="1148" b="0">
                <a:solidFill>
                  <a:srgbClr val="202020"/>
                </a:solidFill>
                <a:latin typeface="Times New Roman"/>
                <a:ea typeface="Times New Roman"/>
                <a:cs typeface="Times New Roman"/>
              </a:defRPr>
            </a:pPr>
            <a:endParaRPr sz="1148" b="0" dirty="0">
              <a:solidFill>
                <a:srgbClr val="202020"/>
              </a:solidFill>
              <a:latin typeface="Times New Roman"/>
              <a:ea typeface="Times New Roman"/>
              <a:cs typeface="Times New Roman"/>
            </a:endParaRPr>
          </a:p>
        </p:txBody>
      </p:sp>
      <p:sp>
        <p:nvSpPr>
          <p:cNvPr id="11" name="ref6">
            <a:extLst>
              <a:ext uri="{FF2B5EF4-FFF2-40B4-BE49-F238E27FC236}">
                <a16:creationId xmlns:a16="http://schemas.microsoft.com/office/drawing/2014/main" id="{15BE5A07-BA85-470A-85E7-ADB70CD5A62C}"/>
              </a:ext>
            </a:extLst>
          </p:cNvPr>
          <p:cNvSpPr>
            <a:spLocks noGrp="1"/>
          </p:cNvSpPr>
          <p:nvPr/>
        </p:nvSpPr>
        <p:spPr>
          <a:xfrm>
            <a:off x="1711413" y="3312950"/>
            <a:ext cx="8533066" cy="453746"/>
          </a:xfrm>
          <a:prstGeom prst="rect">
            <a:avLst/>
          </a:prstGeom>
          <a:noFill/>
          <a:ln w="0">
            <a:noFill/>
            <a:prstDash val="solid"/>
          </a:ln>
        </p:spPr>
        <p:txBody>
          <a:bodyPr anchor="ctr">
            <a:normAutofit/>
          </a:bodyPr>
          <a:lstStyle/>
          <a:p>
            <a:pPr>
              <a:defRPr sz="1148" b="0">
                <a:solidFill>
                  <a:srgbClr val="202020"/>
                </a:solidFill>
                <a:latin typeface="Times New Roman"/>
                <a:ea typeface="Times New Roman"/>
                <a:cs typeface="Times New Roman"/>
              </a:defRPr>
            </a:pPr>
            <a:r>
              <a:rPr lang="en-IN" sz="1148" dirty="0">
                <a:solidFill>
                  <a:srgbClr val="202020"/>
                </a:solidFill>
                <a:latin typeface="Times New Roman"/>
                <a:ea typeface="Times New Roman"/>
                <a:cs typeface="Times New Roman"/>
                <a:hlinkClick r:id="rId7"/>
              </a:rPr>
              <a:t>https://ieeexplore.ieee.org/document/10911982</a:t>
            </a:r>
            <a:endParaRPr lang="en-IN" sz="1148" dirty="0">
              <a:solidFill>
                <a:srgbClr val="202020"/>
              </a:solidFill>
              <a:latin typeface="Times New Roman"/>
              <a:ea typeface="Times New Roman"/>
              <a:cs typeface="Times New Roman"/>
            </a:endParaRPr>
          </a:p>
          <a:p>
            <a:pPr>
              <a:defRPr sz="1148" b="0">
                <a:solidFill>
                  <a:srgbClr val="202020"/>
                </a:solidFill>
                <a:latin typeface="Times New Roman"/>
                <a:ea typeface="Times New Roman"/>
                <a:cs typeface="Times New Roman"/>
              </a:defRPr>
            </a:pPr>
            <a:endParaRPr sz="1148" b="0" dirty="0">
              <a:solidFill>
                <a:srgbClr val="202020"/>
              </a:solidFill>
              <a:latin typeface="Times New Roman"/>
              <a:ea typeface="Times New Roman"/>
              <a:cs typeface="Times New Roman"/>
            </a:endParaRPr>
          </a:p>
        </p:txBody>
      </p:sp>
      <p:sp>
        <p:nvSpPr>
          <p:cNvPr id="12" name="TextBox 11">
            <a:extLst>
              <a:ext uri="{FF2B5EF4-FFF2-40B4-BE49-F238E27FC236}">
                <a16:creationId xmlns:a16="http://schemas.microsoft.com/office/drawing/2014/main" id="{6A09FB5A-53AE-6C7D-0C9A-BD670AFC311D}"/>
              </a:ext>
            </a:extLst>
          </p:cNvPr>
          <p:cNvSpPr txBox="1"/>
          <p:nvPr/>
        </p:nvSpPr>
        <p:spPr>
          <a:xfrm>
            <a:off x="1711413" y="3815312"/>
            <a:ext cx="6270171" cy="923330"/>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hlinkClick r:id="rId8"/>
              </a:rPr>
              <a:t>https://www.researchgate.net/publication/389765045_A_LoRa-Based_Communication_System_for_Real-Time_Location_Tracking_and_Emergency_Signaling_in_Military_Simulation_Exercises</a:t>
            </a:r>
            <a:endParaRPr lang="en-IN" sz="1200" dirty="0">
              <a:latin typeface="Times New Roman" panose="02020603050405020304" pitchFamily="18" charset="0"/>
              <a:cs typeface="Times New Roman" panose="02020603050405020304" pitchFamily="18" charset="0"/>
            </a:endParaRPr>
          </a:p>
          <a:p>
            <a:endParaRPr lang="en-IN" dirty="0"/>
          </a:p>
        </p:txBody>
      </p:sp>
      <p:sp>
        <p:nvSpPr>
          <p:cNvPr id="14" name="TextBox 13">
            <a:extLst>
              <a:ext uri="{FF2B5EF4-FFF2-40B4-BE49-F238E27FC236}">
                <a16:creationId xmlns:a16="http://schemas.microsoft.com/office/drawing/2014/main" id="{C7161F01-095F-70E5-E57C-A6E832A8D9C0}"/>
              </a:ext>
            </a:extLst>
          </p:cNvPr>
          <p:cNvSpPr txBox="1"/>
          <p:nvPr/>
        </p:nvSpPr>
        <p:spPr>
          <a:xfrm>
            <a:off x="1782223" y="4632211"/>
            <a:ext cx="7840748" cy="553998"/>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hlinkClick r:id="rId9"/>
              </a:rPr>
              <a:t>https://ieeexplore.ieee.org/document/11398157</a:t>
            </a:r>
            <a:endParaRPr lang="en-IN" sz="1200" dirty="0">
              <a:latin typeface="Times New Roman" panose="02020603050405020304" pitchFamily="18" charset="0"/>
              <a:cs typeface="Times New Roman" panose="02020603050405020304" pitchFamily="18" charset="0"/>
            </a:endParaRPr>
          </a:p>
          <a:p>
            <a:endParaRPr lang="en-IN" dirty="0"/>
          </a:p>
        </p:txBody>
      </p:sp>
      <p:sp>
        <p:nvSpPr>
          <p:cNvPr id="15" name="TextBox 14">
            <a:extLst>
              <a:ext uri="{FF2B5EF4-FFF2-40B4-BE49-F238E27FC236}">
                <a16:creationId xmlns:a16="http://schemas.microsoft.com/office/drawing/2014/main" id="{CF106AC7-1248-1504-822F-D6DD2FED2832}"/>
              </a:ext>
            </a:extLst>
          </p:cNvPr>
          <p:cNvSpPr txBox="1"/>
          <p:nvPr/>
        </p:nvSpPr>
        <p:spPr>
          <a:xfrm>
            <a:off x="1782223" y="5186209"/>
            <a:ext cx="6670765" cy="553998"/>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hlinkClick r:id="rId9"/>
              </a:rPr>
              <a:t>https://ieeexplore.ieee.org/document/11398157</a:t>
            </a:r>
            <a:endParaRPr lang="en-IN" sz="1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2816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a:stretch>
            <a:fillRect/>
          </a:stretch>
        </p:blipFill>
        <p:spPr>
          <a:xfrm>
            <a:off x="0" y="0"/>
            <a:ext cx="10801350" cy="6076950"/>
          </a:xfrm>
          <a:prstGeom prst="rect">
            <a:avLst/>
          </a:prstGeom>
        </p:spPr>
      </p:pic>
      <p:sp>
        <p:nvSpPr>
          <p:cNvPr id="2" name="thankyou-whiteout">
            <a:extLst>
              <a:ext uri="{FF2B5EF4-FFF2-40B4-BE49-F238E27FC236}">
                <a16:creationId xmlns:a16="http://schemas.microsoft.com/office/drawing/2014/main" id="{C2C7CA9D-6EE9-4A6C-9456-F45D1EDE16D8}"/>
              </a:ext>
            </a:extLst>
          </p:cNvPr>
          <p:cNvSpPr>
            <a:spLocks noGrp="1"/>
          </p:cNvSpPr>
          <p:nvPr/>
        </p:nvSpPr>
        <p:spPr>
          <a:xfrm>
            <a:off x="1296162" y="907491"/>
            <a:ext cx="9505188" cy="5169459"/>
          </a:xfrm>
          <a:prstGeom prst="rect">
            <a:avLst/>
          </a:prstGeom>
          <a:solidFill>
            <a:srgbClr val="FFFFFF"/>
          </a:solidFill>
          <a:ln w="0">
            <a:noFill/>
            <a:prstDash val="solid"/>
          </a:ln>
        </p:spPr>
      </p:sp>
      <p:sp>
        <p:nvSpPr>
          <p:cNvPr id="3" name="thankyou">
            <a:extLst>
              <a:ext uri="{FF2B5EF4-FFF2-40B4-BE49-F238E27FC236}">
                <a16:creationId xmlns:a16="http://schemas.microsoft.com/office/drawing/2014/main" id="{E18B8D34-FFB9-48AE-8376-40D419B17AE5}"/>
              </a:ext>
            </a:extLst>
          </p:cNvPr>
          <p:cNvSpPr>
            <a:spLocks noGrp="1"/>
          </p:cNvSpPr>
          <p:nvPr/>
        </p:nvSpPr>
        <p:spPr>
          <a:xfrm>
            <a:off x="1944243" y="2268728"/>
            <a:ext cx="8209026" cy="729234"/>
          </a:xfrm>
          <a:prstGeom prst="rect">
            <a:avLst/>
          </a:prstGeom>
          <a:noFill/>
          <a:ln w="0">
            <a:noFill/>
            <a:prstDash val="solid"/>
          </a:ln>
        </p:spPr>
        <p:txBody>
          <a:bodyPr anchor="ctr">
            <a:normAutofit/>
          </a:bodyPr>
          <a:lstStyle/>
          <a:p>
            <a:pPr algn="ctr">
              <a:buNone/>
              <a:defRPr sz="3240" b="1">
                <a:solidFill>
                  <a:srgbClr val="B51F32"/>
                </a:solidFill>
                <a:latin typeface="Times New Roman"/>
                <a:ea typeface="Times New Roman"/>
                <a:cs typeface="Times New Roman"/>
              </a:defRPr>
            </a:pPr>
            <a:r>
              <a:rPr sz="3240" b="1">
                <a:solidFill>
                  <a:srgbClr val="B51F32"/>
                </a:solidFill>
                <a:latin typeface="Times New Roman"/>
                <a:ea typeface="Times New Roman"/>
                <a:cs typeface="Times New Roman"/>
              </a:rPr>
              <a:t>Thank You</a:t>
            </a:r>
          </a:p>
        </p:txBody>
      </p:sp>
      <p:sp>
        <p:nvSpPr>
          <p:cNvPr id="4" name="questions">
            <a:extLst>
              <a:ext uri="{FF2B5EF4-FFF2-40B4-BE49-F238E27FC236}">
                <a16:creationId xmlns:a16="http://schemas.microsoft.com/office/drawing/2014/main" id="{F42DA2A7-E586-4DE4-A397-4DB9DC1E35B6}"/>
              </a:ext>
            </a:extLst>
          </p:cNvPr>
          <p:cNvSpPr>
            <a:spLocks noGrp="1"/>
          </p:cNvSpPr>
          <p:nvPr/>
        </p:nvSpPr>
        <p:spPr>
          <a:xfrm>
            <a:off x="1944243" y="3078988"/>
            <a:ext cx="8209026" cy="421335"/>
          </a:xfrm>
          <a:prstGeom prst="rect">
            <a:avLst/>
          </a:prstGeom>
          <a:noFill/>
          <a:ln w="0">
            <a:noFill/>
            <a:prstDash val="solid"/>
          </a:ln>
        </p:spPr>
        <p:txBody>
          <a:bodyPr anchor="ctr">
            <a:normAutofit/>
          </a:bodyPr>
          <a:lstStyle/>
          <a:p>
            <a:pPr algn="ctr">
              <a:buNone/>
              <a:defRPr sz="1890" b="0">
                <a:solidFill>
                  <a:srgbClr val="25466C"/>
                </a:solidFill>
                <a:latin typeface="Times New Roman"/>
                <a:ea typeface="Times New Roman"/>
                <a:cs typeface="Times New Roman"/>
              </a:defRPr>
            </a:pPr>
            <a:r>
              <a:rPr sz="1890" b="0">
                <a:solidFill>
                  <a:srgbClr val="25466C"/>
                </a:solidFill>
                <a:latin typeface="Times New Roman"/>
                <a:ea typeface="Times New Roman"/>
                <a:cs typeface="Times New Roman"/>
              </a:rPr>
              <a:t>Questions and Discussion</a:t>
            </a:r>
          </a:p>
        </p:txBody>
      </p:sp>
      <p:sp>
        <p:nvSpPr>
          <p:cNvPr id="5" name="thankproject">
            <a:extLst>
              <a:ext uri="{FF2B5EF4-FFF2-40B4-BE49-F238E27FC236}">
                <a16:creationId xmlns:a16="http://schemas.microsoft.com/office/drawing/2014/main" id="{44753D4B-03C9-4316-9FF4-DBBCDC979F9B}"/>
              </a:ext>
            </a:extLst>
          </p:cNvPr>
          <p:cNvSpPr>
            <a:spLocks noGrp="1"/>
          </p:cNvSpPr>
          <p:nvPr/>
        </p:nvSpPr>
        <p:spPr>
          <a:xfrm>
            <a:off x="1944243" y="3767709"/>
            <a:ext cx="8209026" cy="340309"/>
          </a:xfrm>
          <a:prstGeom prst="rect">
            <a:avLst/>
          </a:prstGeom>
          <a:noFill/>
          <a:ln w="0">
            <a:noFill/>
            <a:prstDash val="solid"/>
          </a:ln>
        </p:spPr>
        <p:txBody>
          <a:bodyPr anchor="ctr">
            <a:normAutofit/>
          </a:bodyPr>
          <a:lstStyle/>
          <a:p>
            <a:pPr algn="ctr">
              <a:buNone/>
              <a:defRPr sz="1485" b="0">
                <a:solidFill>
                  <a:srgbClr val="202020"/>
                </a:solidFill>
                <a:latin typeface="Times New Roman"/>
                <a:ea typeface="Times New Roman"/>
                <a:cs typeface="Times New Roman"/>
              </a:defRPr>
            </a:pPr>
            <a:r>
              <a:rPr sz="1485" b="0">
                <a:solidFill>
                  <a:srgbClr val="202020"/>
                </a:solidFill>
                <a:latin typeface="Times New Roman"/>
                <a:ea typeface="Times New Roman"/>
                <a:cs typeface="Times New Roman"/>
              </a:rPr>
              <a:t>LoRa-Based Real-Time Tracking and Communication System</a:t>
            </a:r>
          </a:p>
        </p:txBody>
      </p:sp>
    </p:spTree>
    <p:extLst>
      <p:ext uri="{BB962C8B-B14F-4D97-AF65-F5344CB8AC3E}">
        <p14:creationId xmlns:p14="http://schemas.microsoft.com/office/powerpoint/2010/main" val="18381638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1655</Words>
  <Application>Microsoft Office PowerPoint</Application>
  <DocSecurity>0</DocSecurity>
  <PresentationFormat>Custom</PresentationFormat>
  <Paragraphs>174</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Varsha Chaudhari</cp:lastModifiedBy>
  <cp:revision>3</cp:revision>
  <dcterms:created xsi:type="dcterms:W3CDTF">2026-10-07T17:22:14Z</dcterms:created>
  <dcterms:modified xsi:type="dcterms:W3CDTF">2026-10-08T06:15:51Z</dcterms:modified>
</cp:coreProperties>
</file>